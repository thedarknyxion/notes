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87" r:id="rId6"/>
    <p:sldId id="288" r:id="rId7"/>
    <p:sldId id="260" r:id="rId8"/>
    <p:sldId id="263" r:id="rId9"/>
    <p:sldId id="261" r:id="rId10"/>
    <p:sldId id="262" r:id="rId11"/>
    <p:sldId id="289" r:id="rId12"/>
    <p:sldId id="290" r:id="rId13"/>
    <p:sldId id="291" r:id="rId14"/>
    <p:sldId id="264" r:id="rId15"/>
    <p:sldId id="272" r:id="rId16"/>
    <p:sldId id="265" r:id="rId17"/>
    <p:sldId id="266" r:id="rId18"/>
    <p:sldId id="267" r:id="rId19"/>
    <p:sldId id="268" r:id="rId20"/>
    <p:sldId id="269" r:id="rId21"/>
    <p:sldId id="270" r:id="rId22"/>
    <p:sldId id="271" r:id="rId23"/>
    <p:sldId id="273" r:id="rId24"/>
    <p:sldId id="274" r:id="rId25"/>
    <p:sldId id="275" r:id="rId26"/>
    <p:sldId id="276" r:id="rId27"/>
    <p:sldId id="277" r:id="rId28"/>
    <p:sldId id="286" r:id="rId29"/>
    <p:sldId id="278" r:id="rId30"/>
    <p:sldId id="279" r:id="rId31"/>
    <p:sldId id="280" r:id="rId32"/>
    <p:sldId id="281" r:id="rId33"/>
    <p:sldId id="282" r:id="rId34"/>
    <p:sldId id="283" r:id="rId35"/>
    <p:sldId id="28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150" d="100"/>
          <a:sy n="150" d="100"/>
        </p:scale>
        <p:origin x="-1910" y="-1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7C9234C9-D98A-488E-B2A5-E7EFA023736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6147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spTree>
    <p:extLst>
      <p:ext uri="{BB962C8B-B14F-4D97-AF65-F5344CB8AC3E}">
        <p14:creationId xmlns:p14="http://schemas.microsoft.com/office/powerpoint/2010/main" val="297082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9370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F9481D-38E4-4696-B6F5-2134EC7C545C}"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9234C9-D98A-488E-B2A5-E7EFA0237360}" type="slidenum">
              <a:rPr lang="en-IN" smtClean="0"/>
              <a:t>‹#›</a:t>
            </a:fld>
            <a:endParaRPr lang="en-IN"/>
          </a:p>
        </p:txBody>
      </p:sp>
    </p:spTree>
    <p:extLst>
      <p:ext uri="{BB962C8B-B14F-4D97-AF65-F5344CB8AC3E}">
        <p14:creationId xmlns:p14="http://schemas.microsoft.com/office/powerpoint/2010/main" val="350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F9481D-38E4-4696-B6F5-2134EC7C545C}"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9234C9-D98A-488E-B2A5-E7EFA023736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813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F9481D-38E4-4696-B6F5-2134EC7C545C}"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9234C9-D98A-488E-B2A5-E7EFA023736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333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F9481D-38E4-4696-B6F5-2134EC7C545C}"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9234C9-D98A-488E-B2A5-E7EFA0237360}" type="slidenum">
              <a:rPr lang="en-IN" smtClean="0"/>
              <a:t>‹#›</a:t>
            </a:fld>
            <a:endParaRPr lang="en-IN"/>
          </a:p>
        </p:txBody>
      </p:sp>
    </p:spTree>
    <p:extLst>
      <p:ext uri="{BB962C8B-B14F-4D97-AF65-F5344CB8AC3E}">
        <p14:creationId xmlns:p14="http://schemas.microsoft.com/office/powerpoint/2010/main" val="2030647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F9481D-38E4-4696-B6F5-2134EC7C545C}"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9234C9-D98A-488E-B2A5-E7EFA023736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3603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F9481D-38E4-4696-B6F5-2134EC7C545C}"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9234C9-D98A-488E-B2A5-E7EFA0237360}" type="slidenum">
              <a:rPr lang="en-IN" smtClean="0"/>
              <a:t>‹#›</a:t>
            </a:fld>
            <a:endParaRPr lang="en-IN"/>
          </a:p>
        </p:txBody>
      </p:sp>
    </p:spTree>
    <p:extLst>
      <p:ext uri="{BB962C8B-B14F-4D97-AF65-F5344CB8AC3E}">
        <p14:creationId xmlns:p14="http://schemas.microsoft.com/office/powerpoint/2010/main" val="4044488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F9481D-38E4-4696-B6F5-2134EC7C545C}"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9234C9-D98A-488E-B2A5-E7EFA0237360}" type="slidenum">
              <a:rPr lang="en-IN" smtClean="0"/>
              <a:t>‹#›</a:t>
            </a:fld>
            <a:endParaRPr lang="en-IN"/>
          </a:p>
        </p:txBody>
      </p:sp>
    </p:spTree>
    <p:extLst>
      <p:ext uri="{BB962C8B-B14F-4D97-AF65-F5344CB8AC3E}">
        <p14:creationId xmlns:p14="http://schemas.microsoft.com/office/powerpoint/2010/main" val="1581337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9358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5961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spTree>
    <p:extLst>
      <p:ext uri="{BB962C8B-B14F-4D97-AF65-F5344CB8AC3E}">
        <p14:creationId xmlns:p14="http://schemas.microsoft.com/office/powerpoint/2010/main" val="1890279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244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12933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2825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F9481D-38E4-4696-B6F5-2134EC7C545C}"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9234C9-D98A-488E-B2A5-E7EFA023736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091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EF9481D-38E4-4696-B6F5-2134EC7C545C}" type="datetimeFigureOut">
              <a:rPr lang="en-IN" smtClean="0"/>
              <a:t>09-10-2025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C9234C9-D98A-488E-B2A5-E7EFA0237360}" type="slidenum">
              <a:rPr lang="en-IN" smtClean="0"/>
              <a:t>‹#›</a:t>
            </a:fld>
            <a:endParaRPr lang="en-IN"/>
          </a:p>
        </p:txBody>
      </p:sp>
    </p:spTree>
    <p:extLst>
      <p:ext uri="{BB962C8B-B14F-4D97-AF65-F5344CB8AC3E}">
        <p14:creationId xmlns:p14="http://schemas.microsoft.com/office/powerpoint/2010/main" val="15411894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A398-236B-206A-2D59-C92BDD9DA296}"/>
              </a:ext>
            </a:extLst>
          </p:cNvPr>
          <p:cNvSpPr>
            <a:spLocks noGrp="1"/>
          </p:cNvSpPr>
          <p:nvPr>
            <p:ph type="ctrTitle"/>
          </p:nvPr>
        </p:nvSpPr>
        <p:spPr/>
        <p:txBody>
          <a:bodyPr/>
          <a:lstStyle/>
          <a:p>
            <a:r>
              <a:rPr lang="en-IN" dirty="0"/>
              <a:t>Unit 3</a:t>
            </a:r>
          </a:p>
        </p:txBody>
      </p:sp>
      <p:sp>
        <p:nvSpPr>
          <p:cNvPr id="3" name="Subtitle 2">
            <a:extLst>
              <a:ext uri="{FF2B5EF4-FFF2-40B4-BE49-F238E27FC236}">
                <a16:creationId xmlns:a16="http://schemas.microsoft.com/office/drawing/2014/main" id="{F3070295-94A0-48BB-81D8-9BACBC0F44C7}"/>
              </a:ext>
            </a:extLst>
          </p:cNvPr>
          <p:cNvSpPr>
            <a:spLocks noGrp="1"/>
          </p:cNvSpPr>
          <p:nvPr>
            <p:ph type="subTitle" idx="1"/>
          </p:nvPr>
        </p:nvSpPr>
        <p:spPr/>
        <p:txBody>
          <a:bodyPr/>
          <a:lstStyle/>
          <a:p>
            <a:r>
              <a:rPr lang="en-IN" dirty="0"/>
              <a:t>Part-2</a:t>
            </a:r>
          </a:p>
        </p:txBody>
      </p:sp>
    </p:spTree>
    <p:extLst>
      <p:ext uri="{BB962C8B-B14F-4D97-AF65-F5344CB8AC3E}">
        <p14:creationId xmlns:p14="http://schemas.microsoft.com/office/powerpoint/2010/main" val="1892863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28FC6-3254-2857-5051-1BC071821DEE}"/>
              </a:ext>
            </a:extLst>
          </p:cNvPr>
          <p:cNvSpPr>
            <a:spLocks noGrp="1"/>
          </p:cNvSpPr>
          <p:nvPr>
            <p:ph type="title"/>
          </p:nvPr>
        </p:nvSpPr>
        <p:spPr/>
        <p:txBody>
          <a:bodyPr>
            <a:normAutofit fontScale="90000"/>
          </a:bodyPr>
          <a:lstStyle/>
          <a:p>
            <a:r>
              <a:rPr lang="en-US" dirty="0"/>
              <a:t>Structure and function of respiratory system of insects</a:t>
            </a:r>
            <a:endParaRPr lang="en-IN" dirty="0"/>
          </a:p>
        </p:txBody>
      </p:sp>
      <p:sp>
        <p:nvSpPr>
          <p:cNvPr id="3" name="Content Placeholder 2">
            <a:extLst>
              <a:ext uri="{FF2B5EF4-FFF2-40B4-BE49-F238E27FC236}">
                <a16:creationId xmlns:a16="http://schemas.microsoft.com/office/drawing/2014/main" id="{4B3F6C09-0394-25E7-497A-89B8C5F8F8BD}"/>
              </a:ext>
            </a:extLst>
          </p:cNvPr>
          <p:cNvSpPr>
            <a:spLocks noGrp="1"/>
          </p:cNvSpPr>
          <p:nvPr>
            <p:ph idx="1"/>
          </p:nvPr>
        </p:nvSpPr>
        <p:spPr/>
        <p:txBody>
          <a:bodyPr/>
          <a:lstStyle/>
          <a:p>
            <a:pPr algn="just"/>
            <a:r>
              <a:rPr lang="en-US" dirty="0"/>
              <a:t>Similar to aerobic animals, insects must obtain oxygen from their environment and eliminate carbon dioxide respired by their cells. </a:t>
            </a:r>
          </a:p>
          <a:p>
            <a:pPr algn="just"/>
            <a:r>
              <a:rPr lang="en-US" dirty="0"/>
              <a:t>This is gas exchange through series of gas filled tubes providing surface area for gaseous exchange (Respiration strictly refers to oxygen consuming, cellular metabolic processes). </a:t>
            </a:r>
          </a:p>
          <a:p>
            <a:pPr algn="just"/>
            <a:r>
              <a:rPr lang="en-US" dirty="0"/>
              <a:t>Air is supplied directly to the tissue and no </a:t>
            </a:r>
            <a:r>
              <a:rPr lang="en-US" dirty="0" err="1"/>
              <a:t>haemolymph</a:t>
            </a:r>
            <a:r>
              <a:rPr lang="en-US" dirty="0"/>
              <a:t> (blood) is involved in the respiratory role.</a:t>
            </a:r>
            <a:endParaRPr lang="en-IN" dirty="0"/>
          </a:p>
        </p:txBody>
      </p:sp>
    </p:spTree>
    <p:extLst>
      <p:ext uri="{BB962C8B-B14F-4D97-AF65-F5344CB8AC3E}">
        <p14:creationId xmlns:p14="http://schemas.microsoft.com/office/powerpoint/2010/main" val="1969924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6C816-94B4-5E6A-06DB-44A8529E6D3D}"/>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1BC94923-81F7-70BD-53C9-DB426DB2ED1C}"/>
              </a:ext>
            </a:extLst>
          </p:cNvPr>
          <p:cNvSpPr>
            <a:spLocks noGrp="1"/>
          </p:cNvSpPr>
          <p:nvPr>
            <p:ph idx="1"/>
          </p:nvPr>
        </p:nvSpPr>
        <p:spPr/>
        <p:txBody>
          <a:bodyPr/>
          <a:lstStyle/>
          <a:p>
            <a:r>
              <a:rPr lang="en-US" dirty="0"/>
              <a:t>. Air usually enters the tracheae via spiracular openings positioned laterally on the body. No insect has more than ten pairs (two thoracic and eight abdominal).</a:t>
            </a:r>
            <a:endParaRPr lang="en-IN" dirty="0"/>
          </a:p>
        </p:txBody>
      </p:sp>
      <p:pic>
        <p:nvPicPr>
          <p:cNvPr id="1026" name="Picture 2" descr="Respiratory System Of Insect Diagram Stock Illustration - Download Image  Now - Spiracle, Anatomy, Art - iStock">
            <a:extLst>
              <a:ext uri="{FF2B5EF4-FFF2-40B4-BE49-F238E27FC236}">
                <a16:creationId xmlns:a16="http://schemas.microsoft.com/office/drawing/2014/main" id="{B30EEA5F-34CE-EDC5-B206-62A8C7B76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2790" y="3428999"/>
            <a:ext cx="4478695" cy="2717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94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AC4B1-8561-FF0D-C5D6-09A9FB8ECD90}"/>
              </a:ext>
            </a:extLst>
          </p:cNvPr>
          <p:cNvSpPr>
            <a:spLocks noGrp="1"/>
          </p:cNvSpPr>
          <p:nvPr>
            <p:ph type="title"/>
          </p:nvPr>
        </p:nvSpPr>
        <p:spPr/>
        <p:txBody>
          <a:bodyPr/>
          <a:lstStyle/>
          <a:p>
            <a:r>
              <a:rPr lang="en-IN" dirty="0"/>
              <a:t>ORGANS OF RESPIRATION</a:t>
            </a:r>
          </a:p>
        </p:txBody>
      </p:sp>
      <p:sp>
        <p:nvSpPr>
          <p:cNvPr id="3" name="Content Placeholder 2">
            <a:extLst>
              <a:ext uri="{FF2B5EF4-FFF2-40B4-BE49-F238E27FC236}">
                <a16:creationId xmlns:a16="http://schemas.microsoft.com/office/drawing/2014/main" id="{FD22A472-0256-55CA-AA50-A0C71058167B}"/>
              </a:ext>
            </a:extLst>
          </p:cNvPr>
          <p:cNvSpPr>
            <a:spLocks noGrp="1"/>
          </p:cNvSpPr>
          <p:nvPr>
            <p:ph idx="1"/>
          </p:nvPr>
        </p:nvSpPr>
        <p:spPr>
          <a:xfrm>
            <a:off x="1295401" y="2556931"/>
            <a:ext cx="9601196" cy="3932359"/>
          </a:xfrm>
        </p:spPr>
        <p:txBody>
          <a:bodyPr>
            <a:normAutofit fontScale="92500" lnSpcReduction="10000"/>
          </a:bodyPr>
          <a:lstStyle/>
          <a:p>
            <a:r>
              <a:rPr lang="en-US" b="1" dirty="0"/>
              <a:t>Spiracles </a:t>
            </a:r>
            <a:r>
              <a:rPr lang="en-US" dirty="0"/>
              <a:t>have a chamber or atrium with a opening and closing mechanism called valve. </a:t>
            </a:r>
          </a:p>
          <a:p>
            <a:r>
              <a:rPr lang="en-US" dirty="0"/>
              <a:t>This regulates air passage and </a:t>
            </a:r>
            <a:r>
              <a:rPr lang="en-US" dirty="0" err="1"/>
              <a:t>minimise</a:t>
            </a:r>
            <a:r>
              <a:rPr lang="en-US" dirty="0"/>
              <a:t> water loss. Each spiracle is set in a sclerotized cuticular plate called a </a:t>
            </a:r>
            <a:r>
              <a:rPr lang="en-US" b="1" dirty="0" err="1"/>
              <a:t>peritreme</a:t>
            </a:r>
            <a:r>
              <a:rPr lang="en-US" dirty="0"/>
              <a:t>.</a:t>
            </a:r>
          </a:p>
          <a:p>
            <a:r>
              <a:rPr lang="en-US" b="1" dirty="0"/>
              <a:t>Tracheae</a:t>
            </a:r>
            <a:r>
              <a:rPr lang="en-US" dirty="0"/>
              <a:t> are invaginations of the epidermis and thus their lining is continuous with the body cuticle. </a:t>
            </a:r>
          </a:p>
          <a:p>
            <a:r>
              <a:rPr lang="en-US" dirty="0"/>
              <a:t>The ringed appearance of the tracheae is due to the spiral ridges called </a:t>
            </a:r>
            <a:r>
              <a:rPr lang="en-US" b="1" dirty="0" err="1"/>
              <a:t>taenidia</a:t>
            </a:r>
            <a:r>
              <a:rPr lang="en-US" dirty="0"/>
              <a:t>. This allows the tracheae to be flexible but resist compression. </a:t>
            </a:r>
          </a:p>
          <a:p>
            <a:r>
              <a:rPr lang="en-US" dirty="0"/>
              <a:t>The cuticular linings of the tracheae are shed when the insect </a:t>
            </a:r>
            <a:r>
              <a:rPr lang="en-US" dirty="0" err="1"/>
              <a:t>moults</a:t>
            </a:r>
            <a:r>
              <a:rPr lang="en-US" dirty="0"/>
              <a:t>, but not the linings of</a:t>
            </a:r>
            <a:r>
              <a:rPr lang="en-US" b="1" dirty="0"/>
              <a:t> tracheoles</a:t>
            </a:r>
            <a:r>
              <a:rPr lang="en-US" dirty="0"/>
              <a:t>. </a:t>
            </a:r>
            <a:endParaRPr lang="en-IN" dirty="0"/>
          </a:p>
        </p:txBody>
      </p:sp>
    </p:spTree>
    <p:extLst>
      <p:ext uri="{BB962C8B-B14F-4D97-AF65-F5344CB8AC3E}">
        <p14:creationId xmlns:p14="http://schemas.microsoft.com/office/powerpoint/2010/main" val="220602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32781-5780-6BC0-16DE-B541285C3C80}"/>
              </a:ext>
            </a:extLst>
          </p:cNvPr>
          <p:cNvSpPr>
            <a:spLocks noGrp="1"/>
          </p:cNvSpPr>
          <p:nvPr>
            <p:ph type="title"/>
          </p:nvPr>
        </p:nvSpPr>
        <p:spPr/>
        <p:txBody>
          <a:bodyPr>
            <a:normAutofit fontScale="90000"/>
          </a:bodyPr>
          <a:lstStyle/>
          <a:p>
            <a:r>
              <a:rPr lang="en-IN" dirty="0"/>
              <a:t>Classification on respiratory system based on location and functional spiracles</a:t>
            </a:r>
          </a:p>
        </p:txBody>
      </p:sp>
      <p:pic>
        <p:nvPicPr>
          <p:cNvPr id="5" name="Content Placeholder 4">
            <a:extLst>
              <a:ext uri="{FF2B5EF4-FFF2-40B4-BE49-F238E27FC236}">
                <a16:creationId xmlns:a16="http://schemas.microsoft.com/office/drawing/2014/main" id="{F0F60A0A-2132-8117-421F-0197E0CAC4A9}"/>
              </a:ext>
            </a:extLst>
          </p:cNvPr>
          <p:cNvPicPr>
            <a:picLocks noGrp="1" noChangeAspect="1"/>
          </p:cNvPicPr>
          <p:nvPr>
            <p:ph idx="1"/>
          </p:nvPr>
        </p:nvPicPr>
        <p:blipFill>
          <a:blip r:embed="rId2"/>
          <a:stretch>
            <a:fillRect/>
          </a:stretch>
        </p:blipFill>
        <p:spPr>
          <a:xfrm>
            <a:off x="2568633" y="2224954"/>
            <a:ext cx="6716869" cy="3851650"/>
          </a:xfrm>
          <a:prstGeom prst="rect">
            <a:avLst/>
          </a:prstGeom>
        </p:spPr>
      </p:pic>
    </p:spTree>
    <p:extLst>
      <p:ext uri="{BB962C8B-B14F-4D97-AF65-F5344CB8AC3E}">
        <p14:creationId xmlns:p14="http://schemas.microsoft.com/office/powerpoint/2010/main" val="965841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987352-1192-30F9-CD76-BAA5054C2807}"/>
              </a:ext>
            </a:extLst>
          </p:cNvPr>
          <p:cNvPicPr>
            <a:picLocks noChangeAspect="1"/>
          </p:cNvPicPr>
          <p:nvPr/>
        </p:nvPicPr>
        <p:blipFill>
          <a:blip r:embed="rId2"/>
          <a:stretch>
            <a:fillRect/>
          </a:stretch>
        </p:blipFill>
        <p:spPr>
          <a:xfrm>
            <a:off x="1512917" y="887557"/>
            <a:ext cx="9418320" cy="5006167"/>
          </a:xfrm>
          <a:prstGeom prst="rect">
            <a:avLst/>
          </a:prstGeom>
        </p:spPr>
      </p:pic>
    </p:spTree>
    <p:extLst>
      <p:ext uri="{BB962C8B-B14F-4D97-AF65-F5344CB8AC3E}">
        <p14:creationId xmlns:p14="http://schemas.microsoft.com/office/powerpoint/2010/main" val="3200274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D74BDC-105C-C1E2-2B47-16AC6FE6A298}"/>
              </a:ext>
            </a:extLst>
          </p:cNvPr>
          <p:cNvSpPr>
            <a:spLocks noGrp="1"/>
          </p:cNvSpPr>
          <p:nvPr>
            <p:ph idx="4294967295"/>
          </p:nvPr>
        </p:nvSpPr>
        <p:spPr>
          <a:xfrm>
            <a:off x="747251" y="717755"/>
            <a:ext cx="10884309" cy="5594145"/>
          </a:xfrm>
        </p:spPr>
        <p:txBody>
          <a:bodyPr>
            <a:normAutofit/>
          </a:bodyPr>
          <a:lstStyle/>
          <a:p>
            <a:r>
              <a:rPr lang="en-US" dirty="0"/>
              <a:t>Tracheoles are less than 1 µm in diameter; the end blindly and closely contact the respiring tissues. </a:t>
            </a:r>
            <a:r>
              <a:rPr lang="en-US" dirty="0" err="1"/>
              <a:t>Taenidia</a:t>
            </a:r>
            <a:r>
              <a:rPr lang="en-US" dirty="0"/>
              <a:t> and </a:t>
            </a:r>
            <a:r>
              <a:rPr lang="en-US" dirty="0" err="1"/>
              <a:t>waxlayer</a:t>
            </a:r>
            <a:r>
              <a:rPr lang="en-US" dirty="0"/>
              <a:t> is absent. </a:t>
            </a:r>
          </a:p>
          <a:p>
            <a:r>
              <a:rPr lang="en-US" dirty="0"/>
              <a:t>Gaseous exchange occurs across tracheoles. There are four tracheal trunks viz., lateral, dorsal, ventral and visceral, helping in the passage of air.</a:t>
            </a:r>
          </a:p>
          <a:p>
            <a:r>
              <a:rPr lang="en-US" dirty="0"/>
              <a:t>In the trachea, thin walled-collapsable sac like dilations are present, called as </a:t>
            </a:r>
            <a:r>
              <a:rPr lang="en-US" dirty="0" err="1"/>
              <a:t>airsacs</a:t>
            </a:r>
            <a:r>
              <a:rPr lang="en-US" dirty="0"/>
              <a:t> where </a:t>
            </a:r>
            <a:r>
              <a:rPr lang="en-US" dirty="0" err="1"/>
              <a:t>taenidia</a:t>
            </a:r>
            <a:r>
              <a:rPr lang="en-US" dirty="0"/>
              <a:t> is absent. </a:t>
            </a:r>
          </a:p>
          <a:p>
            <a:r>
              <a:rPr lang="en-US" dirty="0" err="1"/>
              <a:t>Airsacs</a:t>
            </a:r>
            <a:r>
              <a:rPr lang="en-US" dirty="0"/>
              <a:t> acts as oxygen reservoir. Provide buoyancy to flying and aquatic insects. Provide space for growing organs. Acts as sound resonator and heat insulators.</a:t>
            </a:r>
            <a:endParaRPr lang="en-IN" dirty="0"/>
          </a:p>
        </p:txBody>
      </p:sp>
      <p:pic>
        <p:nvPicPr>
          <p:cNvPr id="2" name="Picture 1">
            <a:extLst>
              <a:ext uri="{FF2B5EF4-FFF2-40B4-BE49-F238E27FC236}">
                <a16:creationId xmlns:a16="http://schemas.microsoft.com/office/drawing/2014/main" id="{5824D1A2-F6F5-3FF9-26A6-1B8C3A7FE70C}"/>
              </a:ext>
            </a:extLst>
          </p:cNvPr>
          <p:cNvPicPr>
            <a:picLocks noChangeAspect="1"/>
          </p:cNvPicPr>
          <p:nvPr/>
        </p:nvPicPr>
        <p:blipFill>
          <a:blip r:embed="rId2"/>
          <a:srcRect b="46670"/>
          <a:stretch>
            <a:fillRect/>
          </a:stretch>
        </p:blipFill>
        <p:spPr>
          <a:xfrm>
            <a:off x="7223759" y="4373657"/>
            <a:ext cx="3374968" cy="2318088"/>
          </a:xfrm>
          <a:prstGeom prst="rect">
            <a:avLst/>
          </a:prstGeom>
        </p:spPr>
      </p:pic>
    </p:spTree>
    <p:extLst>
      <p:ext uri="{BB962C8B-B14F-4D97-AF65-F5344CB8AC3E}">
        <p14:creationId xmlns:p14="http://schemas.microsoft.com/office/powerpoint/2010/main" val="299729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rachial respiration in insects | PPT">
            <a:extLst>
              <a:ext uri="{FF2B5EF4-FFF2-40B4-BE49-F238E27FC236}">
                <a16:creationId xmlns:a16="http://schemas.microsoft.com/office/drawing/2014/main" id="{3A2A9886-7051-28D5-1C59-C8613672BF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0" t="21721" r="9677" b="4731"/>
          <a:stretch/>
        </p:blipFill>
        <p:spPr bwMode="auto">
          <a:xfrm>
            <a:off x="2143433" y="1365840"/>
            <a:ext cx="3952567" cy="31168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iology -insect respiration">
            <a:extLst>
              <a:ext uri="{FF2B5EF4-FFF2-40B4-BE49-F238E27FC236}">
                <a16:creationId xmlns:a16="http://schemas.microsoft.com/office/drawing/2014/main" id="{3102BCE0-DACA-3FE4-80AC-C52DD4758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5264" y="1465008"/>
            <a:ext cx="4031226" cy="291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042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24C99A-2AE0-D9B9-FBDC-558AE6A65B70}"/>
              </a:ext>
            </a:extLst>
          </p:cNvPr>
          <p:cNvPicPr>
            <a:picLocks noChangeAspect="1"/>
          </p:cNvPicPr>
          <p:nvPr/>
        </p:nvPicPr>
        <p:blipFill>
          <a:blip r:embed="rId2"/>
          <a:stretch>
            <a:fillRect/>
          </a:stretch>
        </p:blipFill>
        <p:spPr>
          <a:xfrm>
            <a:off x="2542252" y="1474839"/>
            <a:ext cx="6778727" cy="3716593"/>
          </a:xfrm>
          <a:prstGeom prst="rect">
            <a:avLst/>
          </a:prstGeom>
        </p:spPr>
      </p:pic>
    </p:spTree>
    <p:extLst>
      <p:ext uri="{BB962C8B-B14F-4D97-AF65-F5344CB8AC3E}">
        <p14:creationId xmlns:p14="http://schemas.microsoft.com/office/powerpoint/2010/main" val="1706399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71BC-40DA-8B58-009B-B39A74458D27}"/>
              </a:ext>
            </a:extLst>
          </p:cNvPr>
          <p:cNvSpPr>
            <a:spLocks noGrp="1"/>
          </p:cNvSpPr>
          <p:nvPr>
            <p:ph type="title"/>
          </p:nvPr>
        </p:nvSpPr>
        <p:spPr/>
        <p:txBody>
          <a:bodyPr/>
          <a:lstStyle/>
          <a:p>
            <a:r>
              <a:rPr lang="en-IN" dirty="0"/>
              <a:t>Mechanism of respiration</a:t>
            </a:r>
          </a:p>
        </p:txBody>
      </p:sp>
      <p:sp>
        <p:nvSpPr>
          <p:cNvPr id="3" name="Content Placeholder 2">
            <a:extLst>
              <a:ext uri="{FF2B5EF4-FFF2-40B4-BE49-F238E27FC236}">
                <a16:creationId xmlns:a16="http://schemas.microsoft.com/office/drawing/2014/main" id="{3A5B1E1B-6B5E-2CE4-4494-A3EA54B5DF77}"/>
              </a:ext>
            </a:extLst>
          </p:cNvPr>
          <p:cNvSpPr>
            <a:spLocks noGrp="1"/>
          </p:cNvSpPr>
          <p:nvPr>
            <p:ph idx="1"/>
          </p:nvPr>
        </p:nvSpPr>
        <p:spPr/>
        <p:txBody>
          <a:bodyPr/>
          <a:lstStyle/>
          <a:p>
            <a:r>
              <a:rPr lang="en-US" dirty="0"/>
              <a:t>Oxygen enters the spiracle and passes through the length of the tracheae to the tracheoles and into the target cells by diffusion along a concentration gradient, from high in the external air to low in the tissue. </a:t>
            </a:r>
          </a:p>
          <a:p>
            <a:r>
              <a:rPr lang="en-US" dirty="0"/>
              <a:t>Where as the net movement of oxygen molecules in the tracheal system is inwards (Inspiration), the net movement of CO2 and water </a:t>
            </a:r>
            <a:r>
              <a:rPr lang="en-US" dirty="0" err="1"/>
              <a:t>vapour</a:t>
            </a:r>
            <a:r>
              <a:rPr lang="en-US" dirty="0"/>
              <a:t> molecules is outwards, (Expiration)</a:t>
            </a:r>
            <a:endParaRPr lang="en-IN" dirty="0"/>
          </a:p>
        </p:txBody>
      </p:sp>
    </p:spTree>
    <p:extLst>
      <p:ext uri="{BB962C8B-B14F-4D97-AF65-F5344CB8AC3E}">
        <p14:creationId xmlns:p14="http://schemas.microsoft.com/office/powerpoint/2010/main" val="2959860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4290E8-69BB-EB93-76F2-84F078A9A23B}"/>
              </a:ext>
            </a:extLst>
          </p:cNvPr>
          <p:cNvPicPr>
            <a:picLocks noChangeAspect="1"/>
          </p:cNvPicPr>
          <p:nvPr/>
        </p:nvPicPr>
        <p:blipFill>
          <a:blip r:embed="rId2"/>
          <a:stretch>
            <a:fillRect/>
          </a:stretch>
        </p:blipFill>
        <p:spPr>
          <a:xfrm>
            <a:off x="3017520" y="1679626"/>
            <a:ext cx="5907033" cy="3636107"/>
          </a:xfrm>
          <a:prstGeom prst="rect">
            <a:avLst/>
          </a:prstGeom>
        </p:spPr>
      </p:pic>
    </p:spTree>
    <p:extLst>
      <p:ext uri="{BB962C8B-B14F-4D97-AF65-F5344CB8AC3E}">
        <p14:creationId xmlns:p14="http://schemas.microsoft.com/office/powerpoint/2010/main" val="1100269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D44BA5-5CD3-B106-6C62-763E6537F2CB}"/>
              </a:ext>
            </a:extLst>
          </p:cNvPr>
          <p:cNvSpPr>
            <a:spLocks noGrp="1"/>
          </p:cNvSpPr>
          <p:nvPr>
            <p:ph type="title"/>
          </p:nvPr>
        </p:nvSpPr>
        <p:spPr/>
        <p:txBody>
          <a:bodyPr/>
          <a:lstStyle/>
          <a:p>
            <a:r>
              <a:rPr lang="en-IN" dirty="0"/>
              <a:t>Types of respiration</a:t>
            </a:r>
          </a:p>
        </p:txBody>
      </p:sp>
      <p:pic>
        <p:nvPicPr>
          <p:cNvPr id="8" name="Content Placeholder 7">
            <a:extLst>
              <a:ext uri="{FF2B5EF4-FFF2-40B4-BE49-F238E27FC236}">
                <a16:creationId xmlns:a16="http://schemas.microsoft.com/office/drawing/2014/main" id="{9BC9D2EE-42CF-751A-A29A-F887B9F25010}"/>
              </a:ext>
            </a:extLst>
          </p:cNvPr>
          <p:cNvPicPr>
            <a:picLocks noGrp="1" noChangeAspect="1"/>
          </p:cNvPicPr>
          <p:nvPr>
            <p:ph idx="1"/>
          </p:nvPr>
        </p:nvPicPr>
        <p:blipFill>
          <a:blip r:embed="rId2"/>
          <a:stretch>
            <a:fillRect/>
          </a:stretch>
        </p:blipFill>
        <p:spPr>
          <a:xfrm>
            <a:off x="1712423" y="2557463"/>
            <a:ext cx="8454042" cy="3602268"/>
          </a:xfrm>
          <a:prstGeom prst="rect">
            <a:avLst/>
          </a:prstGeom>
        </p:spPr>
      </p:pic>
    </p:spTree>
    <p:extLst>
      <p:ext uri="{BB962C8B-B14F-4D97-AF65-F5344CB8AC3E}">
        <p14:creationId xmlns:p14="http://schemas.microsoft.com/office/powerpoint/2010/main" val="2927296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4FF6F3-7C11-7376-DE80-DD6C4CD8C652}"/>
              </a:ext>
            </a:extLst>
          </p:cNvPr>
          <p:cNvPicPr>
            <a:picLocks noChangeAspect="1"/>
          </p:cNvPicPr>
          <p:nvPr/>
        </p:nvPicPr>
        <p:blipFill>
          <a:blip r:embed="rId2"/>
          <a:stretch>
            <a:fillRect/>
          </a:stretch>
        </p:blipFill>
        <p:spPr>
          <a:xfrm>
            <a:off x="1862051" y="1081836"/>
            <a:ext cx="8146037" cy="4694327"/>
          </a:xfrm>
          <a:prstGeom prst="rect">
            <a:avLst/>
          </a:prstGeom>
        </p:spPr>
      </p:pic>
    </p:spTree>
    <p:extLst>
      <p:ext uri="{BB962C8B-B14F-4D97-AF65-F5344CB8AC3E}">
        <p14:creationId xmlns:p14="http://schemas.microsoft.com/office/powerpoint/2010/main" val="2730369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A2D9-C809-F8A7-B80D-3AC0E72BCD1D}"/>
              </a:ext>
            </a:extLst>
          </p:cNvPr>
          <p:cNvSpPr>
            <a:spLocks noGrp="1"/>
          </p:cNvSpPr>
          <p:nvPr>
            <p:ph type="title"/>
          </p:nvPr>
        </p:nvSpPr>
        <p:spPr/>
        <p:txBody>
          <a:bodyPr/>
          <a:lstStyle/>
          <a:p>
            <a:r>
              <a:rPr lang="en-IN" dirty="0"/>
              <a:t>Secretory (Endocrine system)</a:t>
            </a:r>
          </a:p>
        </p:txBody>
      </p:sp>
      <p:sp>
        <p:nvSpPr>
          <p:cNvPr id="3" name="Content Placeholder 2">
            <a:extLst>
              <a:ext uri="{FF2B5EF4-FFF2-40B4-BE49-F238E27FC236}">
                <a16:creationId xmlns:a16="http://schemas.microsoft.com/office/drawing/2014/main" id="{293DC6EC-B8DB-1762-84E3-6BD0CC2E0EA3}"/>
              </a:ext>
            </a:extLst>
          </p:cNvPr>
          <p:cNvSpPr>
            <a:spLocks noGrp="1"/>
          </p:cNvSpPr>
          <p:nvPr>
            <p:ph idx="1"/>
          </p:nvPr>
        </p:nvSpPr>
        <p:spPr/>
        <p:txBody>
          <a:bodyPr>
            <a:normAutofit fontScale="92500" lnSpcReduction="20000"/>
          </a:bodyPr>
          <a:lstStyle/>
          <a:p>
            <a:r>
              <a:rPr lang="en-IN" dirty="0"/>
              <a:t>The endocrine organ and hormones together referred as endocrine system.</a:t>
            </a:r>
          </a:p>
          <a:p>
            <a:r>
              <a:rPr lang="en-IN" dirty="0"/>
              <a:t>Endocrine organs produce hormone in blood which travels in blood to various organs of the body coordinating their activities.</a:t>
            </a:r>
          </a:p>
          <a:p>
            <a:pPr algn="just"/>
            <a:r>
              <a:rPr lang="en-US" b="0" i="0" dirty="0">
                <a:solidFill>
                  <a:schemeClr val="tx1"/>
                </a:solidFill>
                <a:effectLst/>
                <a:latin typeface="+mj-lt"/>
              </a:rPr>
              <a:t>A </a:t>
            </a:r>
            <a:r>
              <a:rPr lang="en-US" b="1" i="0" dirty="0">
                <a:solidFill>
                  <a:schemeClr val="tx1"/>
                </a:solidFill>
                <a:effectLst/>
                <a:latin typeface="+mj-lt"/>
              </a:rPr>
              <a:t>hormone</a:t>
            </a:r>
            <a:r>
              <a:rPr lang="en-US" b="0" i="0" dirty="0">
                <a:solidFill>
                  <a:schemeClr val="tx1"/>
                </a:solidFill>
                <a:effectLst/>
                <a:latin typeface="+mj-lt"/>
              </a:rPr>
              <a:t> is a chemical signal sent from cells in one part of an organism to cells in another part (or parts) of the same individual.   They are often regarded as </a:t>
            </a:r>
            <a:r>
              <a:rPr lang="en-US" b="0" i="1" dirty="0">
                <a:solidFill>
                  <a:schemeClr val="tx1"/>
                </a:solidFill>
                <a:effectLst/>
                <a:latin typeface="+mj-lt"/>
              </a:rPr>
              <a:t>chemical messengers</a:t>
            </a:r>
            <a:r>
              <a:rPr lang="en-US" b="0" i="0" dirty="0">
                <a:solidFill>
                  <a:schemeClr val="tx1"/>
                </a:solidFill>
                <a:effectLst/>
                <a:latin typeface="+mj-lt"/>
              </a:rPr>
              <a:t>. </a:t>
            </a:r>
          </a:p>
          <a:p>
            <a:pPr algn="just"/>
            <a:r>
              <a:rPr lang="en-US" b="0" i="0" dirty="0">
                <a:solidFill>
                  <a:schemeClr val="tx1"/>
                </a:solidFill>
                <a:effectLst/>
                <a:latin typeface="+mj-lt"/>
              </a:rPr>
              <a:t>Although typically produced in very small quantities, hormones may cause profound changes in their target cells.   Their effect may be stimulatory or inhibitory.   In some cases, a single hormone may have multiple targets and cause different effects in each target.  </a:t>
            </a:r>
            <a:endParaRPr lang="en-IN" dirty="0">
              <a:solidFill>
                <a:schemeClr val="tx1"/>
              </a:solidFill>
              <a:latin typeface="+mj-lt"/>
            </a:endParaRPr>
          </a:p>
        </p:txBody>
      </p:sp>
    </p:spTree>
    <p:extLst>
      <p:ext uri="{BB962C8B-B14F-4D97-AF65-F5344CB8AC3E}">
        <p14:creationId xmlns:p14="http://schemas.microsoft.com/office/powerpoint/2010/main" val="331073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8E12B-9DE1-5F7A-62CF-66A479DA690D}"/>
              </a:ext>
            </a:extLst>
          </p:cNvPr>
          <p:cNvSpPr>
            <a:spLocks noGrp="1"/>
          </p:cNvSpPr>
          <p:nvPr>
            <p:ph type="title"/>
          </p:nvPr>
        </p:nvSpPr>
        <p:spPr/>
        <p:txBody>
          <a:bodyPr/>
          <a:lstStyle/>
          <a:p>
            <a:r>
              <a:rPr lang="en-IN" dirty="0"/>
              <a:t>Endocrine Organ</a:t>
            </a:r>
          </a:p>
        </p:txBody>
      </p:sp>
      <p:sp>
        <p:nvSpPr>
          <p:cNvPr id="3" name="Content Placeholder 2">
            <a:extLst>
              <a:ext uri="{FF2B5EF4-FFF2-40B4-BE49-F238E27FC236}">
                <a16:creationId xmlns:a16="http://schemas.microsoft.com/office/drawing/2014/main" id="{FDD6B6FB-0255-EB96-5F35-20498ECC0A24}"/>
              </a:ext>
            </a:extLst>
          </p:cNvPr>
          <p:cNvSpPr>
            <a:spLocks noGrp="1"/>
          </p:cNvSpPr>
          <p:nvPr>
            <p:ph idx="1"/>
          </p:nvPr>
        </p:nvSpPr>
        <p:spPr/>
        <p:txBody>
          <a:bodyPr>
            <a:noAutofit/>
          </a:bodyPr>
          <a:lstStyle/>
          <a:p>
            <a:r>
              <a:rPr lang="en-IN" sz="2000" dirty="0">
                <a:solidFill>
                  <a:schemeClr val="tx1"/>
                </a:solidFill>
                <a:latin typeface="+mj-lt"/>
              </a:rPr>
              <a:t>The endocrine system are of two types:</a:t>
            </a:r>
          </a:p>
          <a:p>
            <a:pPr marL="457200" indent="-457200">
              <a:buAutoNum type="arabicPeriod"/>
            </a:pPr>
            <a:r>
              <a:rPr lang="en-IN" sz="2000" dirty="0">
                <a:solidFill>
                  <a:schemeClr val="tx1"/>
                </a:solidFill>
                <a:latin typeface="+mj-lt"/>
              </a:rPr>
              <a:t>Neurosecretory Cells ( within the CNS)</a:t>
            </a:r>
          </a:p>
          <a:p>
            <a:pPr marL="457200" indent="-457200">
              <a:buAutoNum type="arabicPeriod"/>
            </a:pPr>
            <a:r>
              <a:rPr lang="en-IN" sz="2000" dirty="0">
                <a:solidFill>
                  <a:schemeClr val="tx1"/>
                </a:solidFill>
                <a:latin typeface="+mj-lt"/>
              </a:rPr>
              <a:t>The specialized endocrine glands </a:t>
            </a:r>
          </a:p>
          <a:p>
            <a:r>
              <a:rPr lang="en-US" sz="2000" dirty="0">
                <a:solidFill>
                  <a:schemeClr val="tx1"/>
                </a:solidFill>
                <a:latin typeface="+mj-lt"/>
              </a:rPr>
              <a:t>C</a:t>
            </a:r>
            <a:r>
              <a:rPr lang="en-US" sz="2000" b="0" i="0" dirty="0">
                <a:solidFill>
                  <a:schemeClr val="tx1"/>
                </a:solidFill>
                <a:effectLst/>
                <a:latin typeface="+mj-lt"/>
              </a:rPr>
              <a:t>orpora </a:t>
            </a:r>
            <a:r>
              <a:rPr lang="en-US" sz="2000" b="0" i="0" dirty="0" err="1">
                <a:solidFill>
                  <a:schemeClr val="tx1"/>
                </a:solidFill>
                <a:effectLst/>
                <a:latin typeface="+mj-lt"/>
              </a:rPr>
              <a:t>cardiaca</a:t>
            </a:r>
            <a:r>
              <a:rPr lang="en-US" sz="2000" b="0" i="0" dirty="0">
                <a:solidFill>
                  <a:schemeClr val="tx1"/>
                </a:solidFill>
                <a:effectLst/>
                <a:latin typeface="+mj-lt"/>
              </a:rPr>
              <a:t> </a:t>
            </a:r>
            <a:endParaRPr lang="en-US" sz="2000" dirty="0">
              <a:solidFill>
                <a:schemeClr val="tx1"/>
              </a:solidFill>
              <a:latin typeface="+mj-lt"/>
            </a:endParaRPr>
          </a:p>
          <a:p>
            <a:r>
              <a:rPr lang="en-US" sz="2000" dirty="0">
                <a:solidFill>
                  <a:schemeClr val="tx1"/>
                </a:solidFill>
                <a:latin typeface="+mj-lt"/>
              </a:rPr>
              <a:t>C</a:t>
            </a:r>
            <a:r>
              <a:rPr lang="en-US" sz="2000" b="0" i="0" dirty="0">
                <a:solidFill>
                  <a:schemeClr val="tx1"/>
                </a:solidFill>
                <a:effectLst/>
                <a:latin typeface="+mj-lt"/>
              </a:rPr>
              <a:t>orpora </a:t>
            </a:r>
            <a:r>
              <a:rPr lang="en-US" sz="2000" b="0" i="0" dirty="0" err="1">
                <a:solidFill>
                  <a:schemeClr val="tx1"/>
                </a:solidFill>
                <a:effectLst/>
                <a:latin typeface="+mj-lt"/>
              </a:rPr>
              <a:t>allata</a:t>
            </a:r>
            <a:r>
              <a:rPr lang="en-US" sz="2000" b="0" i="0" dirty="0">
                <a:solidFill>
                  <a:schemeClr val="tx1"/>
                </a:solidFill>
                <a:effectLst/>
                <a:latin typeface="+mj-lt"/>
              </a:rPr>
              <a:t>.</a:t>
            </a:r>
          </a:p>
          <a:p>
            <a:r>
              <a:rPr lang="en-US" sz="2000" dirty="0">
                <a:solidFill>
                  <a:schemeClr val="tx1"/>
                </a:solidFill>
                <a:latin typeface="+mj-lt"/>
              </a:rPr>
              <a:t>Prothoracic glands</a:t>
            </a:r>
            <a:endParaRPr lang="en-IN" sz="2000" dirty="0">
              <a:solidFill>
                <a:schemeClr val="tx1"/>
              </a:solidFill>
              <a:latin typeface="+mj-lt"/>
            </a:endParaRPr>
          </a:p>
        </p:txBody>
      </p:sp>
    </p:spTree>
    <p:extLst>
      <p:ext uri="{BB962C8B-B14F-4D97-AF65-F5344CB8AC3E}">
        <p14:creationId xmlns:p14="http://schemas.microsoft.com/office/powerpoint/2010/main" val="3902454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54E0-7B75-6AC4-D0BD-55D98440BC0D}"/>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512FD022-809A-1BAF-032C-5B3450077B92}"/>
              </a:ext>
            </a:extLst>
          </p:cNvPr>
          <p:cNvSpPr>
            <a:spLocks noGrp="1"/>
          </p:cNvSpPr>
          <p:nvPr>
            <p:ph idx="1"/>
          </p:nvPr>
        </p:nvSpPr>
        <p:spPr/>
        <p:txBody>
          <a:bodyPr>
            <a:normAutofit/>
          </a:bodyPr>
          <a:lstStyle/>
          <a:p>
            <a:pPr marL="0" indent="0">
              <a:buNone/>
            </a:pPr>
            <a:r>
              <a:rPr lang="en-US" dirty="0">
                <a:solidFill>
                  <a:schemeClr val="tx1"/>
                </a:solidFill>
                <a:latin typeface="+mj-lt"/>
                <a:cs typeface="Times New Roman" panose="02020603050405020304" pitchFamily="18" charset="0"/>
              </a:rPr>
              <a:t>T</a:t>
            </a:r>
            <a:r>
              <a:rPr lang="en-US" b="0" i="0" dirty="0">
                <a:solidFill>
                  <a:schemeClr val="tx1"/>
                </a:solidFill>
                <a:effectLst/>
                <a:latin typeface="+mj-lt"/>
                <a:cs typeface="Times New Roman" panose="02020603050405020304" pitchFamily="18" charset="0"/>
              </a:rPr>
              <a:t>hese hormone-secreting structures form an </a:t>
            </a:r>
            <a:r>
              <a:rPr lang="en-US" b="1" i="0" dirty="0">
                <a:solidFill>
                  <a:schemeClr val="tx1"/>
                </a:solidFill>
                <a:effectLst/>
                <a:latin typeface="+mj-lt"/>
                <a:cs typeface="Times New Roman" panose="02020603050405020304" pitchFamily="18" charset="0"/>
              </a:rPr>
              <a:t>endocrine system</a:t>
            </a:r>
            <a:r>
              <a:rPr lang="en-US" b="0" i="0" dirty="0">
                <a:solidFill>
                  <a:schemeClr val="tx1"/>
                </a:solidFill>
                <a:effectLst/>
                <a:latin typeface="+mj-lt"/>
                <a:cs typeface="Times New Roman" panose="02020603050405020304" pitchFamily="18" charset="0"/>
              </a:rPr>
              <a:t> that helps maintain homeostasis, coordinate behavior, and regulate growth, development, and other physiological activities.</a:t>
            </a:r>
            <a:endParaRPr lang="en-IN" dirty="0">
              <a:solidFill>
                <a:schemeClr val="tx1"/>
              </a:solidFill>
              <a:latin typeface="+mj-lt"/>
              <a:cs typeface="Times New Roman" panose="02020603050405020304" pitchFamily="18" charset="0"/>
            </a:endParaRPr>
          </a:p>
          <a:p>
            <a:endParaRPr lang="en-IN" dirty="0"/>
          </a:p>
        </p:txBody>
      </p:sp>
    </p:spTree>
    <p:extLst>
      <p:ext uri="{BB962C8B-B14F-4D97-AF65-F5344CB8AC3E}">
        <p14:creationId xmlns:p14="http://schemas.microsoft.com/office/powerpoint/2010/main" val="3922597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1B972F-6B1E-FAFA-CE54-26111498D213}"/>
              </a:ext>
            </a:extLst>
          </p:cNvPr>
          <p:cNvPicPr>
            <a:picLocks noChangeAspect="1"/>
          </p:cNvPicPr>
          <p:nvPr/>
        </p:nvPicPr>
        <p:blipFill>
          <a:blip r:embed="rId2"/>
          <a:stretch>
            <a:fillRect/>
          </a:stretch>
        </p:blipFill>
        <p:spPr>
          <a:xfrm>
            <a:off x="4495800" y="990600"/>
            <a:ext cx="3200400" cy="4876800"/>
          </a:xfrm>
          <a:prstGeom prst="rect">
            <a:avLst/>
          </a:prstGeom>
        </p:spPr>
      </p:pic>
    </p:spTree>
    <p:extLst>
      <p:ext uri="{BB962C8B-B14F-4D97-AF65-F5344CB8AC3E}">
        <p14:creationId xmlns:p14="http://schemas.microsoft.com/office/powerpoint/2010/main" val="1594561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3792F-7311-F3DA-34BE-F5859D2C277A}"/>
              </a:ext>
            </a:extLst>
          </p:cNvPr>
          <p:cNvSpPr>
            <a:spLocks noGrp="1"/>
          </p:cNvSpPr>
          <p:nvPr>
            <p:ph type="title"/>
          </p:nvPr>
        </p:nvSpPr>
        <p:spPr/>
        <p:txBody>
          <a:bodyPr/>
          <a:lstStyle/>
          <a:p>
            <a:r>
              <a:rPr lang="en-US" b="1" i="0" dirty="0">
                <a:solidFill>
                  <a:schemeClr val="tx1"/>
                </a:solidFill>
                <a:effectLst/>
              </a:rPr>
              <a:t>Neurosecretory cells</a:t>
            </a:r>
            <a:r>
              <a:rPr lang="en-US" b="0" i="0" dirty="0">
                <a:solidFill>
                  <a:schemeClr val="tx1"/>
                </a:solidFill>
                <a:effectLst/>
              </a:rPr>
              <a:t> </a:t>
            </a:r>
            <a:endParaRPr lang="en-IN" dirty="0">
              <a:solidFill>
                <a:schemeClr val="tx1"/>
              </a:solidFill>
            </a:endParaRPr>
          </a:p>
        </p:txBody>
      </p:sp>
      <p:sp>
        <p:nvSpPr>
          <p:cNvPr id="3" name="Content Placeholder 2">
            <a:extLst>
              <a:ext uri="{FF2B5EF4-FFF2-40B4-BE49-F238E27FC236}">
                <a16:creationId xmlns:a16="http://schemas.microsoft.com/office/drawing/2014/main" id="{48E19E34-2EE2-8A66-4BDE-660636075CDE}"/>
              </a:ext>
            </a:extLst>
          </p:cNvPr>
          <p:cNvSpPr>
            <a:spLocks noGrp="1"/>
          </p:cNvSpPr>
          <p:nvPr>
            <p:ph idx="1"/>
          </p:nvPr>
        </p:nvSpPr>
        <p:spPr/>
        <p:txBody>
          <a:bodyPr>
            <a:normAutofit lnSpcReduction="10000"/>
          </a:bodyPr>
          <a:lstStyle/>
          <a:p>
            <a:r>
              <a:rPr lang="en-US" b="1" i="0" dirty="0">
                <a:solidFill>
                  <a:schemeClr val="tx1"/>
                </a:solidFill>
                <a:effectLst/>
                <a:latin typeface="+mj-lt"/>
              </a:rPr>
              <a:t>Neurosecretory cells</a:t>
            </a:r>
            <a:r>
              <a:rPr lang="en-US" b="0" i="0" dirty="0">
                <a:solidFill>
                  <a:schemeClr val="tx1"/>
                </a:solidFill>
                <a:effectLst/>
                <a:latin typeface="+mj-lt"/>
              </a:rPr>
              <a:t> —The </a:t>
            </a:r>
            <a:r>
              <a:rPr lang="en-US" b="0" i="0" u="none" strike="noStrike" dirty="0">
                <a:solidFill>
                  <a:schemeClr val="tx1"/>
                </a:solidFill>
                <a:effectLst/>
                <a:latin typeface="+mj-lt"/>
              </a:rPr>
              <a:t>neurosecretory cells</a:t>
            </a:r>
            <a:r>
              <a:rPr lang="en-US" b="0" i="0" dirty="0">
                <a:solidFill>
                  <a:schemeClr val="tx1"/>
                </a:solidFill>
                <a:effectLst/>
                <a:latin typeface="+mj-lt"/>
              </a:rPr>
              <a:t> are found in clusters, both medially and laterally in the insect’s brain.   Axons from these cells can be traced along tiny nerves that run to the corpora </a:t>
            </a:r>
            <a:r>
              <a:rPr lang="en-US" b="0" i="0" dirty="0" err="1">
                <a:solidFill>
                  <a:schemeClr val="tx1"/>
                </a:solidFill>
                <a:effectLst/>
                <a:latin typeface="+mj-lt"/>
              </a:rPr>
              <a:t>cardiaca</a:t>
            </a:r>
            <a:r>
              <a:rPr lang="en-US" b="0" i="0" dirty="0">
                <a:solidFill>
                  <a:schemeClr val="tx1"/>
                </a:solidFill>
                <a:effectLst/>
                <a:latin typeface="+mj-lt"/>
              </a:rPr>
              <a:t> and corpora </a:t>
            </a:r>
            <a:r>
              <a:rPr lang="en-US" b="0" i="0" dirty="0" err="1">
                <a:solidFill>
                  <a:schemeClr val="tx1"/>
                </a:solidFill>
                <a:effectLst/>
                <a:latin typeface="+mj-lt"/>
              </a:rPr>
              <a:t>allata</a:t>
            </a:r>
            <a:r>
              <a:rPr lang="en-US" b="0" i="0" dirty="0">
                <a:solidFill>
                  <a:schemeClr val="tx1"/>
                </a:solidFill>
                <a:effectLst/>
                <a:latin typeface="+mj-lt"/>
              </a:rPr>
              <a:t>.   Functionally, they serve as a link between the nervous system and the endocrine system.</a:t>
            </a:r>
          </a:p>
          <a:p>
            <a:r>
              <a:rPr lang="en-US" b="0" i="0" dirty="0">
                <a:solidFill>
                  <a:schemeClr val="tx1"/>
                </a:solidFill>
                <a:effectLst/>
                <a:latin typeface="+mj-lt"/>
              </a:rPr>
              <a:t> </a:t>
            </a:r>
            <a:r>
              <a:rPr lang="en-US" b="0" i="0" u="none" strike="noStrike" dirty="0">
                <a:solidFill>
                  <a:schemeClr val="tx1"/>
                </a:solidFill>
                <a:effectLst/>
                <a:latin typeface="+mj-lt"/>
              </a:rPr>
              <a:t>Neurosecretory cells</a:t>
            </a:r>
            <a:r>
              <a:rPr lang="en-US" b="0" i="0" dirty="0">
                <a:solidFill>
                  <a:schemeClr val="tx1"/>
                </a:solidFill>
                <a:effectLst/>
                <a:latin typeface="+mj-lt"/>
              </a:rPr>
              <a:t> in the brain regulate activity of the corpora </a:t>
            </a:r>
            <a:r>
              <a:rPr lang="en-US" b="0" i="0" dirty="0" err="1">
                <a:solidFill>
                  <a:schemeClr val="tx1"/>
                </a:solidFill>
                <a:effectLst/>
                <a:latin typeface="+mj-lt"/>
              </a:rPr>
              <a:t>allata</a:t>
            </a:r>
            <a:r>
              <a:rPr lang="en-US" b="0" i="0" dirty="0">
                <a:solidFill>
                  <a:schemeClr val="tx1"/>
                </a:solidFill>
                <a:effectLst/>
                <a:latin typeface="+mj-lt"/>
              </a:rPr>
              <a:t> — stimulating them to produce JH during larval or nymphal instars, inhibiting them during the transition to adulthood, and reactivating them once the adult is ready for reproduction</a:t>
            </a:r>
            <a:r>
              <a:rPr lang="en-US" b="0" i="0" dirty="0">
                <a:solidFill>
                  <a:srgbClr val="676767"/>
                </a:solidFill>
                <a:effectLst/>
                <a:latin typeface="+mj-lt"/>
              </a:rPr>
              <a:t>. </a:t>
            </a:r>
          </a:p>
          <a:p>
            <a:endParaRPr lang="en-US" b="0" i="0" dirty="0">
              <a:solidFill>
                <a:schemeClr val="tx1"/>
              </a:solidFill>
              <a:effectLst/>
              <a:latin typeface="+mj-lt"/>
            </a:endParaRPr>
          </a:p>
          <a:p>
            <a:endParaRPr lang="en-IN" dirty="0">
              <a:latin typeface="+mj-lt"/>
            </a:endParaRPr>
          </a:p>
        </p:txBody>
      </p:sp>
    </p:spTree>
    <p:extLst>
      <p:ext uri="{BB962C8B-B14F-4D97-AF65-F5344CB8AC3E}">
        <p14:creationId xmlns:p14="http://schemas.microsoft.com/office/powerpoint/2010/main" val="922495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CC0FA-0979-B0E0-958E-03BC9E94DEF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90F4FB-6C05-3297-380B-E32287BB4E2D}"/>
              </a:ext>
            </a:extLst>
          </p:cNvPr>
          <p:cNvSpPr>
            <a:spLocks noGrp="1"/>
          </p:cNvSpPr>
          <p:nvPr>
            <p:ph idx="1"/>
          </p:nvPr>
        </p:nvSpPr>
        <p:spPr/>
        <p:txBody>
          <a:bodyPr/>
          <a:lstStyle/>
          <a:p>
            <a:r>
              <a:rPr lang="en-US" b="0" i="0" dirty="0">
                <a:solidFill>
                  <a:schemeClr val="tx1"/>
                </a:solidFill>
                <a:effectLst/>
                <a:latin typeface="+mj-lt"/>
              </a:rPr>
              <a:t>The cells produce and secrete </a:t>
            </a:r>
            <a:r>
              <a:rPr lang="en-US" b="1" i="0" dirty="0">
                <a:solidFill>
                  <a:schemeClr val="tx1"/>
                </a:solidFill>
                <a:effectLst/>
                <a:latin typeface="+mj-lt"/>
              </a:rPr>
              <a:t>brain hormone</a:t>
            </a:r>
            <a:r>
              <a:rPr lang="en-US" b="0" i="0" dirty="0">
                <a:solidFill>
                  <a:schemeClr val="tx1"/>
                </a:solidFill>
                <a:effectLst/>
                <a:latin typeface="+mj-lt"/>
              </a:rPr>
              <a:t>, a low-molecular-weight peptide that appears to be the same as (or very similar to) prothoracicotropic hormone (PTTH) manufactured by the corpora </a:t>
            </a:r>
            <a:r>
              <a:rPr lang="en-US" b="0" i="0" dirty="0" err="1">
                <a:solidFill>
                  <a:schemeClr val="tx1"/>
                </a:solidFill>
                <a:effectLst/>
                <a:latin typeface="+mj-lt"/>
              </a:rPr>
              <a:t>cardiaca</a:t>
            </a:r>
            <a:r>
              <a:rPr lang="en-US" b="0" i="0" dirty="0">
                <a:solidFill>
                  <a:schemeClr val="tx1"/>
                </a:solidFill>
                <a:effectLst/>
                <a:latin typeface="+mj-lt"/>
              </a:rPr>
              <a:t>. </a:t>
            </a:r>
            <a:endParaRPr lang="en-IN" dirty="0">
              <a:solidFill>
                <a:schemeClr val="tx1"/>
              </a:solidFill>
              <a:latin typeface="+mj-lt"/>
            </a:endParaRPr>
          </a:p>
        </p:txBody>
      </p:sp>
    </p:spTree>
    <p:extLst>
      <p:ext uri="{BB962C8B-B14F-4D97-AF65-F5344CB8AC3E}">
        <p14:creationId xmlns:p14="http://schemas.microsoft.com/office/powerpoint/2010/main" val="3739808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EFBD4-6548-F2C6-DCEA-D7E4E2AD64AE}"/>
              </a:ext>
            </a:extLst>
          </p:cNvPr>
          <p:cNvSpPr>
            <a:spLocks noGrp="1"/>
          </p:cNvSpPr>
          <p:nvPr>
            <p:ph type="title"/>
          </p:nvPr>
        </p:nvSpPr>
        <p:spPr/>
        <p:txBody>
          <a:bodyPr/>
          <a:lstStyle/>
          <a:p>
            <a:r>
              <a:rPr lang="en-IN" dirty="0"/>
              <a:t>Prothoracic gland</a:t>
            </a:r>
          </a:p>
        </p:txBody>
      </p:sp>
      <p:sp>
        <p:nvSpPr>
          <p:cNvPr id="3" name="Content Placeholder 2">
            <a:extLst>
              <a:ext uri="{FF2B5EF4-FFF2-40B4-BE49-F238E27FC236}">
                <a16:creationId xmlns:a16="http://schemas.microsoft.com/office/drawing/2014/main" id="{A9F0439D-88BD-7799-40E9-7EAF131C0A50}"/>
              </a:ext>
            </a:extLst>
          </p:cNvPr>
          <p:cNvSpPr>
            <a:spLocks noGrp="1"/>
          </p:cNvSpPr>
          <p:nvPr>
            <p:ph idx="1"/>
          </p:nvPr>
        </p:nvSpPr>
        <p:spPr/>
        <p:txBody>
          <a:bodyPr>
            <a:normAutofit/>
          </a:bodyPr>
          <a:lstStyle/>
          <a:p>
            <a:pPr algn="just"/>
            <a:r>
              <a:rPr lang="en-US" b="0" i="0" dirty="0">
                <a:solidFill>
                  <a:schemeClr val="tx1"/>
                </a:solidFill>
                <a:effectLst/>
                <a:latin typeface="+mj-lt"/>
              </a:rPr>
              <a:t>In insects, the largest and most obvious endocrine glands are found in the prothorax, just behind the head.  </a:t>
            </a:r>
          </a:p>
          <a:p>
            <a:pPr algn="just"/>
            <a:r>
              <a:rPr lang="en-US" b="0" i="0" dirty="0">
                <a:solidFill>
                  <a:schemeClr val="tx1"/>
                </a:solidFill>
                <a:effectLst/>
                <a:latin typeface="+mj-lt"/>
              </a:rPr>
              <a:t>These </a:t>
            </a:r>
            <a:r>
              <a:rPr lang="en-US" b="0" i="0" u="none" strike="noStrike" dirty="0">
                <a:solidFill>
                  <a:schemeClr val="tx1"/>
                </a:solidFill>
                <a:effectLst/>
                <a:latin typeface="+mj-lt"/>
              </a:rPr>
              <a:t>prothoracic glands</a:t>
            </a:r>
            <a:r>
              <a:rPr lang="en-US" b="0" i="0" dirty="0">
                <a:solidFill>
                  <a:schemeClr val="tx1"/>
                </a:solidFill>
                <a:effectLst/>
                <a:latin typeface="+mj-lt"/>
              </a:rPr>
              <a:t> manufacture </a:t>
            </a:r>
            <a:r>
              <a:rPr lang="en-US" b="1" i="0" dirty="0" err="1">
                <a:solidFill>
                  <a:schemeClr val="tx1"/>
                </a:solidFill>
                <a:effectLst/>
                <a:latin typeface="+mj-lt"/>
              </a:rPr>
              <a:t>ecdysteroids</a:t>
            </a:r>
            <a:r>
              <a:rPr lang="en-US" b="0" i="0" dirty="0">
                <a:solidFill>
                  <a:schemeClr val="tx1"/>
                </a:solidFill>
                <a:effectLst/>
                <a:latin typeface="+mj-lt"/>
              </a:rPr>
              <a:t>, a group of closely-related steroid hormones (including ecdysone) that stimulate synthesis of chitin and protein in epidermal cells and trigger a cascade of physiological events that culminates in molting.   For this reason, the </a:t>
            </a:r>
            <a:r>
              <a:rPr lang="en-US" b="0" i="0" dirty="0" err="1">
                <a:solidFill>
                  <a:schemeClr val="tx1"/>
                </a:solidFill>
                <a:effectLst/>
                <a:latin typeface="+mj-lt"/>
              </a:rPr>
              <a:t>ecdysteroids</a:t>
            </a:r>
            <a:r>
              <a:rPr lang="en-US" b="0" i="0" dirty="0">
                <a:solidFill>
                  <a:schemeClr val="tx1"/>
                </a:solidFill>
                <a:effectLst/>
                <a:latin typeface="+mj-lt"/>
              </a:rPr>
              <a:t> are often called “molting hormones”.   Once an insect reaches the adult stage, its prothoracic glands atrophy (wither away) and it will never molt again.</a:t>
            </a:r>
            <a:endParaRPr lang="en-IN" dirty="0">
              <a:solidFill>
                <a:schemeClr val="tx1"/>
              </a:solidFill>
              <a:latin typeface="+mj-lt"/>
            </a:endParaRPr>
          </a:p>
        </p:txBody>
      </p:sp>
    </p:spTree>
    <p:extLst>
      <p:ext uri="{BB962C8B-B14F-4D97-AF65-F5344CB8AC3E}">
        <p14:creationId xmlns:p14="http://schemas.microsoft.com/office/powerpoint/2010/main" val="1439687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88BE-7F3D-C3E6-A8E4-30772657CC92}"/>
              </a:ext>
            </a:extLst>
          </p:cNvPr>
          <p:cNvSpPr>
            <a:spLocks noGrp="1"/>
          </p:cNvSpPr>
          <p:nvPr>
            <p:ph type="title"/>
          </p:nvPr>
        </p:nvSpPr>
        <p:spPr/>
        <p:txBody>
          <a:bodyPr/>
          <a:lstStyle/>
          <a:p>
            <a:r>
              <a:rPr lang="en-IN" dirty="0"/>
              <a:t>Corpora </a:t>
            </a:r>
            <a:r>
              <a:rPr lang="en-IN" dirty="0" err="1"/>
              <a:t>Cardiaca</a:t>
            </a:r>
            <a:r>
              <a:rPr lang="en-IN" dirty="0"/>
              <a:t> </a:t>
            </a:r>
          </a:p>
        </p:txBody>
      </p:sp>
      <p:sp>
        <p:nvSpPr>
          <p:cNvPr id="3" name="Content Placeholder 2">
            <a:extLst>
              <a:ext uri="{FF2B5EF4-FFF2-40B4-BE49-F238E27FC236}">
                <a16:creationId xmlns:a16="http://schemas.microsoft.com/office/drawing/2014/main" id="{74C51222-CC6A-EA0F-F0D7-72BDB346D6DB}"/>
              </a:ext>
            </a:extLst>
          </p:cNvPr>
          <p:cNvSpPr>
            <a:spLocks noGrp="1"/>
          </p:cNvSpPr>
          <p:nvPr>
            <p:ph idx="1"/>
          </p:nvPr>
        </p:nvSpPr>
        <p:spPr/>
        <p:txBody>
          <a:bodyPr>
            <a:normAutofit/>
          </a:bodyPr>
          <a:lstStyle/>
          <a:p>
            <a:r>
              <a:rPr lang="en-US" b="0" i="0" dirty="0">
                <a:solidFill>
                  <a:schemeClr val="tx1"/>
                </a:solidFill>
                <a:effectLst/>
                <a:latin typeface="+mj-lt"/>
              </a:rPr>
              <a:t>Prothoracic glands produce and release </a:t>
            </a:r>
            <a:r>
              <a:rPr lang="en-US" b="0" i="0" dirty="0" err="1">
                <a:solidFill>
                  <a:schemeClr val="tx1"/>
                </a:solidFill>
                <a:effectLst/>
                <a:latin typeface="+mj-lt"/>
              </a:rPr>
              <a:t>ecdysteroids</a:t>
            </a:r>
            <a:r>
              <a:rPr lang="en-US" b="0" i="0" dirty="0">
                <a:solidFill>
                  <a:schemeClr val="tx1"/>
                </a:solidFill>
                <a:effectLst/>
                <a:latin typeface="+mj-lt"/>
              </a:rPr>
              <a:t> only after they have been stimulated by another chemical messenger, </a:t>
            </a:r>
            <a:r>
              <a:rPr lang="en-US" b="1" i="0" dirty="0">
                <a:solidFill>
                  <a:schemeClr val="tx1"/>
                </a:solidFill>
                <a:effectLst/>
                <a:latin typeface="+mj-lt"/>
              </a:rPr>
              <a:t>prothoracicotropic hormone</a:t>
            </a:r>
            <a:r>
              <a:rPr lang="en-US" b="0" i="0" dirty="0">
                <a:solidFill>
                  <a:schemeClr val="tx1"/>
                </a:solidFill>
                <a:effectLst/>
                <a:latin typeface="+mj-lt"/>
              </a:rPr>
              <a:t> (PTTH for short).   This compound is a peptide hormone secreted by the </a:t>
            </a:r>
            <a:r>
              <a:rPr lang="en-US" b="0" i="0" u="none" strike="noStrike" dirty="0">
                <a:solidFill>
                  <a:schemeClr val="tx1"/>
                </a:solidFill>
                <a:effectLst/>
                <a:latin typeface="+mj-lt"/>
              </a:rPr>
              <a:t>corpora </a:t>
            </a:r>
            <a:r>
              <a:rPr lang="en-US" b="0" i="0" u="none" strike="noStrike" dirty="0" err="1">
                <a:solidFill>
                  <a:schemeClr val="tx1"/>
                </a:solidFill>
                <a:effectLst/>
                <a:latin typeface="+mj-lt"/>
              </a:rPr>
              <a:t>cardiaca</a:t>
            </a:r>
            <a:r>
              <a:rPr lang="en-US" b="0" i="0" dirty="0">
                <a:solidFill>
                  <a:schemeClr val="tx1"/>
                </a:solidFill>
                <a:effectLst/>
                <a:latin typeface="+mj-lt"/>
              </a:rPr>
              <a:t>, a pair of neurohemal organs located on the walls of the aorta just behind the brain.   The corpora </a:t>
            </a:r>
            <a:r>
              <a:rPr lang="en-US" b="0" i="0" dirty="0" err="1">
                <a:solidFill>
                  <a:schemeClr val="tx1"/>
                </a:solidFill>
                <a:effectLst/>
                <a:latin typeface="+mj-lt"/>
              </a:rPr>
              <a:t>cardiaca</a:t>
            </a:r>
            <a:r>
              <a:rPr lang="en-US" b="0" i="0" dirty="0">
                <a:solidFill>
                  <a:schemeClr val="tx1"/>
                </a:solidFill>
                <a:effectLst/>
                <a:latin typeface="+mj-lt"/>
              </a:rPr>
              <a:t> release their store of PTTH only after they receive a signal from neurosecretory cells in the brain.   In a sense, they act as signal amplifiers — sending out a big pulse of hormone to the body in response to a small message from the brain.</a:t>
            </a:r>
            <a:endParaRPr lang="en-IN" dirty="0">
              <a:solidFill>
                <a:schemeClr val="tx1"/>
              </a:solidFill>
              <a:latin typeface="+mj-lt"/>
            </a:endParaRPr>
          </a:p>
        </p:txBody>
      </p:sp>
    </p:spTree>
    <p:extLst>
      <p:ext uri="{BB962C8B-B14F-4D97-AF65-F5344CB8AC3E}">
        <p14:creationId xmlns:p14="http://schemas.microsoft.com/office/powerpoint/2010/main" val="1962844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F13C8-170B-0F57-F0DD-BCA531ED2E72}"/>
              </a:ext>
            </a:extLst>
          </p:cNvPr>
          <p:cNvSpPr>
            <a:spLocks noGrp="1"/>
          </p:cNvSpPr>
          <p:nvPr>
            <p:ph type="title"/>
          </p:nvPr>
        </p:nvSpPr>
        <p:spPr/>
        <p:txBody>
          <a:bodyPr/>
          <a:lstStyle/>
          <a:p>
            <a:r>
              <a:rPr lang="en-IN" dirty="0"/>
              <a:t>Corpora </a:t>
            </a:r>
            <a:r>
              <a:rPr lang="en-IN" dirty="0" err="1"/>
              <a:t>allata</a:t>
            </a:r>
            <a:endParaRPr lang="en-IN" dirty="0"/>
          </a:p>
        </p:txBody>
      </p:sp>
      <p:sp>
        <p:nvSpPr>
          <p:cNvPr id="3" name="Content Placeholder 2">
            <a:extLst>
              <a:ext uri="{FF2B5EF4-FFF2-40B4-BE49-F238E27FC236}">
                <a16:creationId xmlns:a16="http://schemas.microsoft.com/office/drawing/2014/main" id="{3E9B30F7-FAE3-E24F-170C-69DF25ECF596}"/>
              </a:ext>
            </a:extLst>
          </p:cNvPr>
          <p:cNvSpPr>
            <a:spLocks noGrp="1"/>
          </p:cNvSpPr>
          <p:nvPr>
            <p:ph idx="1"/>
          </p:nvPr>
        </p:nvSpPr>
        <p:spPr>
          <a:xfrm>
            <a:off x="1295401" y="2537268"/>
            <a:ext cx="9601196" cy="3318936"/>
          </a:xfrm>
        </p:spPr>
        <p:txBody>
          <a:bodyPr/>
          <a:lstStyle/>
          <a:p>
            <a:r>
              <a:rPr lang="en-US" b="0" i="0" dirty="0">
                <a:solidFill>
                  <a:schemeClr val="tx1"/>
                </a:solidFill>
                <a:effectLst/>
                <a:latin typeface="+mj-lt"/>
              </a:rPr>
              <a:t>The </a:t>
            </a:r>
            <a:r>
              <a:rPr lang="en-US" b="0" i="0" u="none" strike="noStrike" dirty="0">
                <a:solidFill>
                  <a:schemeClr val="tx1"/>
                </a:solidFill>
                <a:effectLst/>
                <a:latin typeface="+mj-lt"/>
              </a:rPr>
              <a:t>corpora </a:t>
            </a:r>
            <a:r>
              <a:rPr lang="en-US" b="0" i="0" u="none" strike="noStrike" dirty="0" err="1">
                <a:solidFill>
                  <a:schemeClr val="tx1"/>
                </a:solidFill>
                <a:effectLst/>
                <a:latin typeface="+mj-lt"/>
              </a:rPr>
              <a:t>allata</a:t>
            </a:r>
            <a:r>
              <a:rPr lang="en-US" b="0" i="0" dirty="0">
                <a:solidFill>
                  <a:schemeClr val="tx1"/>
                </a:solidFill>
                <a:effectLst/>
                <a:latin typeface="+mj-lt"/>
              </a:rPr>
              <a:t>, another pair of neurohemal organs, lie just behind the corpora </a:t>
            </a:r>
            <a:r>
              <a:rPr lang="en-US" b="0" i="0" dirty="0" err="1">
                <a:solidFill>
                  <a:schemeClr val="tx1"/>
                </a:solidFill>
                <a:effectLst/>
                <a:latin typeface="+mj-lt"/>
              </a:rPr>
              <a:t>cardiaca</a:t>
            </a:r>
            <a:r>
              <a:rPr lang="en-US" b="0" i="0" dirty="0">
                <a:solidFill>
                  <a:schemeClr val="tx1"/>
                </a:solidFill>
                <a:effectLst/>
                <a:latin typeface="+mj-lt"/>
              </a:rPr>
              <a:t>.   They manufacture </a:t>
            </a:r>
            <a:r>
              <a:rPr lang="en-US" b="1" i="0" dirty="0">
                <a:solidFill>
                  <a:schemeClr val="tx1"/>
                </a:solidFill>
                <a:effectLst/>
                <a:latin typeface="+mj-lt"/>
              </a:rPr>
              <a:t>juvenile hormone</a:t>
            </a:r>
            <a:r>
              <a:rPr lang="en-US" b="0" i="0" dirty="0">
                <a:solidFill>
                  <a:schemeClr val="tx1"/>
                </a:solidFill>
                <a:effectLst/>
                <a:latin typeface="+mj-lt"/>
              </a:rPr>
              <a:t> (JH for short), a compound that inhibits development of adult characteristics during the immature stages and promotes sexual maturity during the adult stage. </a:t>
            </a:r>
            <a:endParaRPr lang="en-IN" dirty="0">
              <a:solidFill>
                <a:schemeClr val="tx1"/>
              </a:solidFill>
              <a:latin typeface="+mj-lt"/>
            </a:endParaRPr>
          </a:p>
        </p:txBody>
      </p:sp>
    </p:spTree>
    <p:extLst>
      <p:ext uri="{BB962C8B-B14F-4D97-AF65-F5344CB8AC3E}">
        <p14:creationId xmlns:p14="http://schemas.microsoft.com/office/powerpoint/2010/main" val="2638971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ec. 21 Structure and functions of secretary(Endocrine) system in insects .ppt">
            <a:extLst>
              <a:ext uri="{FF2B5EF4-FFF2-40B4-BE49-F238E27FC236}">
                <a16:creationId xmlns:a16="http://schemas.microsoft.com/office/drawing/2014/main" id="{784B261A-AFA3-D479-E27C-384C32C4C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4078" y="1206910"/>
            <a:ext cx="5417574" cy="4594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927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82FCA-21B2-CC91-9AF3-3139AD218050}"/>
              </a:ext>
            </a:extLst>
          </p:cNvPr>
          <p:cNvSpPr>
            <a:spLocks noGrp="1"/>
          </p:cNvSpPr>
          <p:nvPr>
            <p:ph type="ctrTitle"/>
          </p:nvPr>
        </p:nvSpPr>
        <p:spPr/>
        <p:txBody>
          <a:bodyPr/>
          <a:lstStyle/>
          <a:p>
            <a:r>
              <a:rPr lang="en-IN" dirty="0"/>
              <a:t>Reproductive system in insects</a:t>
            </a:r>
          </a:p>
        </p:txBody>
      </p:sp>
      <p:sp>
        <p:nvSpPr>
          <p:cNvPr id="4" name="Subtitle 3">
            <a:extLst>
              <a:ext uri="{FF2B5EF4-FFF2-40B4-BE49-F238E27FC236}">
                <a16:creationId xmlns:a16="http://schemas.microsoft.com/office/drawing/2014/main" id="{EF2C38C4-E0F3-4014-D568-F7B32794BCF3}"/>
              </a:ext>
            </a:extLst>
          </p:cNvPr>
          <p:cNvSpPr>
            <a:spLocks noGrp="1"/>
          </p:cNvSpPr>
          <p:nvPr>
            <p:ph type="subTitle" idx="1"/>
          </p:nvPr>
        </p:nvSpPr>
        <p:spPr/>
        <p:txBody>
          <a:bodyPr/>
          <a:lstStyle/>
          <a:p>
            <a:r>
              <a:rPr lang="en-IN" dirty="0"/>
              <a:t>Lecture plan</a:t>
            </a:r>
          </a:p>
        </p:txBody>
      </p:sp>
    </p:spTree>
    <p:extLst>
      <p:ext uri="{BB962C8B-B14F-4D97-AF65-F5344CB8AC3E}">
        <p14:creationId xmlns:p14="http://schemas.microsoft.com/office/powerpoint/2010/main" val="3126803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0378C1-6540-5218-98D0-89EADDF550D8}"/>
              </a:ext>
            </a:extLst>
          </p:cNvPr>
          <p:cNvSpPr>
            <a:spLocks noGrp="1"/>
          </p:cNvSpPr>
          <p:nvPr>
            <p:ph idx="4294967295"/>
          </p:nvPr>
        </p:nvSpPr>
        <p:spPr>
          <a:xfrm>
            <a:off x="963560" y="924233"/>
            <a:ext cx="10166556" cy="4951106"/>
          </a:xfrm>
        </p:spPr>
        <p:txBody>
          <a:bodyPr/>
          <a:lstStyle/>
          <a:p>
            <a:r>
              <a:rPr lang="en-US" dirty="0"/>
              <a:t>In insects male and female sexes are mostly separate. </a:t>
            </a:r>
          </a:p>
          <a:p>
            <a:r>
              <a:rPr lang="en-US" dirty="0"/>
              <a:t>Sexual dimorphism is common where the male differ from the female morphologically. e.g. bee, mosquito and cockroach. </a:t>
            </a:r>
          </a:p>
          <a:p>
            <a:r>
              <a:rPr lang="en-US" dirty="0"/>
              <a:t>The other types are Gynandromorph: (Sexual mosaic) Abnormal individual with secondary sexual characters of both male and female. e.g. mutant Drosophila.</a:t>
            </a:r>
          </a:p>
          <a:p>
            <a:r>
              <a:rPr lang="en-US" dirty="0"/>
              <a:t>Hermaphrodite: Male and female gonads are in one organism. e.g. Cottony cushion scale.</a:t>
            </a:r>
            <a:endParaRPr lang="en-IN" dirty="0"/>
          </a:p>
        </p:txBody>
      </p:sp>
    </p:spTree>
    <p:extLst>
      <p:ext uri="{BB962C8B-B14F-4D97-AF65-F5344CB8AC3E}">
        <p14:creationId xmlns:p14="http://schemas.microsoft.com/office/powerpoint/2010/main" val="3733374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C1CEB-D738-109B-181E-737D69019CB9}"/>
              </a:ext>
            </a:extLst>
          </p:cNvPr>
          <p:cNvSpPr>
            <a:spLocks noGrp="1"/>
          </p:cNvSpPr>
          <p:nvPr>
            <p:ph idx="4294967295"/>
          </p:nvPr>
        </p:nvSpPr>
        <p:spPr>
          <a:xfrm>
            <a:off x="746448" y="839755"/>
            <a:ext cx="5850295" cy="5035583"/>
          </a:xfrm>
        </p:spPr>
        <p:txBody>
          <a:bodyPr>
            <a:normAutofit/>
          </a:bodyPr>
          <a:lstStyle/>
          <a:p>
            <a:pPr algn="l"/>
            <a:endParaRPr lang="en-IN" sz="1800" b="0" i="0" u="none" strike="noStrike" baseline="0" dirty="0">
              <a:solidFill>
                <a:srgbClr val="000000"/>
              </a:solidFill>
              <a:latin typeface="Arial" panose="020B0604020202020204" pitchFamily="34" charset="0"/>
            </a:endParaRPr>
          </a:p>
          <a:p>
            <a:pPr algn="just"/>
            <a:r>
              <a:rPr lang="en-US" sz="2000" b="0" i="0" u="none" strike="noStrike" baseline="0" dirty="0">
                <a:solidFill>
                  <a:srgbClr val="000000"/>
                </a:solidFill>
                <a:latin typeface="+mj-lt"/>
              </a:rPr>
              <a:t> The main function of the </a:t>
            </a:r>
            <a:r>
              <a:rPr lang="en-US" sz="2000" b="1" i="0" u="none" strike="noStrike" baseline="0" dirty="0">
                <a:solidFill>
                  <a:srgbClr val="000000"/>
                </a:solidFill>
                <a:latin typeface="+mj-lt"/>
              </a:rPr>
              <a:t>female reproductive system </a:t>
            </a:r>
            <a:r>
              <a:rPr lang="en-US" sz="2000" b="0" i="0" u="none" strike="noStrike" baseline="0" dirty="0">
                <a:solidFill>
                  <a:srgbClr val="000000"/>
                </a:solidFill>
                <a:latin typeface="+mj-lt"/>
              </a:rPr>
              <a:t>are egg production and storage of male's spermatozoa until the eggs are ready to be fertilized. The basic components of the female system are paired </a:t>
            </a:r>
            <a:r>
              <a:rPr lang="en-US" sz="2000" b="1" i="0" u="none" strike="noStrike" baseline="0" dirty="0">
                <a:solidFill>
                  <a:srgbClr val="000000"/>
                </a:solidFill>
                <a:latin typeface="+mj-lt"/>
              </a:rPr>
              <a:t>ovaries</a:t>
            </a:r>
            <a:r>
              <a:rPr lang="en-US" sz="2000" b="0" i="0" u="none" strike="noStrike" baseline="0" dirty="0">
                <a:solidFill>
                  <a:srgbClr val="000000"/>
                </a:solidFill>
                <a:latin typeface="+mj-lt"/>
              </a:rPr>
              <a:t>, which empty their mature </a:t>
            </a:r>
            <a:r>
              <a:rPr lang="en-US" sz="2000" b="1" i="0" u="none" strike="noStrike" baseline="0" dirty="0">
                <a:solidFill>
                  <a:srgbClr val="000000"/>
                </a:solidFill>
                <a:latin typeface="+mj-lt"/>
              </a:rPr>
              <a:t>oocytes </a:t>
            </a:r>
            <a:r>
              <a:rPr lang="en-US" sz="2000" b="0" i="0" u="none" strike="noStrike" baseline="0" dirty="0">
                <a:solidFill>
                  <a:srgbClr val="000000"/>
                </a:solidFill>
                <a:latin typeface="+mj-lt"/>
              </a:rPr>
              <a:t>(eggs) via the </a:t>
            </a:r>
            <a:r>
              <a:rPr lang="en-US" sz="2000" b="1" i="0" u="none" strike="noStrike" baseline="0" dirty="0">
                <a:solidFill>
                  <a:srgbClr val="000000"/>
                </a:solidFill>
                <a:latin typeface="+mj-lt"/>
              </a:rPr>
              <a:t>calyces (Calyx) </a:t>
            </a:r>
            <a:r>
              <a:rPr lang="en-US" sz="2000" b="0" i="0" u="none" strike="noStrike" baseline="0" dirty="0">
                <a:solidFill>
                  <a:srgbClr val="000000"/>
                </a:solidFill>
                <a:latin typeface="+mj-lt"/>
              </a:rPr>
              <a:t>into the </a:t>
            </a:r>
            <a:r>
              <a:rPr lang="en-US" sz="2000" b="1" i="0" u="none" strike="noStrike" baseline="0" dirty="0">
                <a:solidFill>
                  <a:srgbClr val="000000"/>
                </a:solidFill>
                <a:latin typeface="+mj-lt"/>
              </a:rPr>
              <a:t>lateral oviduct </a:t>
            </a:r>
            <a:r>
              <a:rPr lang="en-US" sz="2000" b="0" i="0" u="none" strike="noStrike" baseline="0" dirty="0">
                <a:solidFill>
                  <a:srgbClr val="000000"/>
                </a:solidFill>
                <a:latin typeface="+mj-lt"/>
              </a:rPr>
              <a:t>which unite to form the common (</a:t>
            </a:r>
            <a:r>
              <a:rPr lang="en-US" sz="2000" b="1" i="0" u="none" strike="noStrike" baseline="0" dirty="0">
                <a:solidFill>
                  <a:srgbClr val="000000"/>
                </a:solidFill>
                <a:latin typeface="+mj-lt"/>
              </a:rPr>
              <a:t>median</a:t>
            </a:r>
            <a:r>
              <a:rPr lang="en-US" sz="2000" b="0" i="0" u="none" strike="noStrike" baseline="0" dirty="0">
                <a:solidFill>
                  <a:srgbClr val="000000"/>
                </a:solidFill>
                <a:latin typeface="+mj-lt"/>
              </a:rPr>
              <a:t>) </a:t>
            </a:r>
            <a:r>
              <a:rPr lang="en-US" sz="2000" b="1" i="0" u="none" strike="noStrike" baseline="0" dirty="0">
                <a:solidFill>
                  <a:srgbClr val="000000"/>
                </a:solidFill>
                <a:latin typeface="+mj-lt"/>
              </a:rPr>
              <a:t>oviduct</a:t>
            </a:r>
            <a:r>
              <a:rPr lang="en-US" sz="2000" b="0" i="0" u="none" strike="noStrike" baseline="0" dirty="0">
                <a:solidFill>
                  <a:srgbClr val="000000"/>
                </a:solidFill>
                <a:latin typeface="+mj-lt"/>
              </a:rPr>
              <a:t>. The </a:t>
            </a:r>
            <a:r>
              <a:rPr lang="en-US" sz="2000" b="1" i="0" u="none" strike="noStrike" baseline="0" dirty="0">
                <a:solidFill>
                  <a:srgbClr val="000000"/>
                </a:solidFill>
                <a:latin typeface="+mj-lt"/>
              </a:rPr>
              <a:t>gonopore </a:t>
            </a:r>
            <a:r>
              <a:rPr lang="en-US" sz="2000" b="0" i="0" u="none" strike="noStrike" baseline="0" dirty="0">
                <a:solidFill>
                  <a:srgbClr val="000000"/>
                </a:solidFill>
                <a:latin typeface="+mj-lt"/>
              </a:rPr>
              <a:t>(opening) of the common oviduct is usually concealed in an inflection of the body wall that typically forms a cavity, the </a:t>
            </a:r>
            <a:r>
              <a:rPr lang="en-US" sz="2000" b="1" i="0" u="none" strike="noStrike" baseline="0" dirty="0">
                <a:solidFill>
                  <a:srgbClr val="000000"/>
                </a:solidFill>
                <a:latin typeface="+mj-lt"/>
              </a:rPr>
              <a:t>genital chamber.</a:t>
            </a:r>
          </a:p>
          <a:p>
            <a:pPr algn="l"/>
            <a:endParaRPr lang="en-IN" sz="1800" b="0" i="0" u="none" strike="noStrike" baseline="0" dirty="0">
              <a:solidFill>
                <a:srgbClr val="000000"/>
              </a:solidFill>
              <a:latin typeface="Arial" panose="020B0604020202020204" pitchFamily="34" charset="0"/>
            </a:endParaRPr>
          </a:p>
          <a:p>
            <a:r>
              <a:rPr lang="en-US" sz="1800" b="0" i="0"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mj-lt"/>
              </a:rPr>
              <a:t>This chamber serves as a </a:t>
            </a:r>
            <a:r>
              <a:rPr lang="en-US" sz="1800" b="0" i="0" u="none" strike="noStrike" baseline="0" dirty="0" err="1">
                <a:solidFill>
                  <a:srgbClr val="000000"/>
                </a:solidFill>
                <a:latin typeface="+mj-lt"/>
              </a:rPr>
              <a:t>capulatory</a:t>
            </a:r>
            <a:r>
              <a:rPr lang="en-US" sz="1800" b="0" i="0" u="none" strike="noStrike" baseline="0" dirty="0">
                <a:solidFill>
                  <a:srgbClr val="000000"/>
                </a:solidFill>
                <a:latin typeface="+mj-lt"/>
              </a:rPr>
              <a:t> pouch during mating and thus is often known as the </a:t>
            </a:r>
            <a:r>
              <a:rPr lang="en-US" sz="1800" b="1" i="0" u="none" strike="noStrike" baseline="0" dirty="0">
                <a:solidFill>
                  <a:srgbClr val="000000"/>
                </a:solidFill>
                <a:latin typeface="+mj-lt"/>
              </a:rPr>
              <a:t>bursa copulatrix</a:t>
            </a:r>
            <a:r>
              <a:rPr lang="en-US" sz="1800" b="0" i="0" u="none" strike="noStrike" baseline="0" dirty="0">
                <a:solidFill>
                  <a:srgbClr val="000000"/>
                </a:solidFill>
                <a:latin typeface="+mj-lt"/>
              </a:rPr>
              <a:t>.</a:t>
            </a:r>
            <a:endParaRPr lang="en-IN" sz="2000" dirty="0">
              <a:latin typeface="+mj-lt"/>
            </a:endParaRPr>
          </a:p>
        </p:txBody>
      </p:sp>
      <p:pic>
        <p:nvPicPr>
          <p:cNvPr id="5122" name="Picture 2" descr="Insect_Reproduction">
            <a:extLst>
              <a:ext uri="{FF2B5EF4-FFF2-40B4-BE49-F238E27FC236}">
                <a16:creationId xmlns:a16="http://schemas.microsoft.com/office/drawing/2014/main" id="{511137E2-2175-3FF4-6E9E-14A9C2371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9728" y="1281213"/>
            <a:ext cx="3167985" cy="4295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307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7C1C56-4CEC-7AC0-9831-BC92078F2539}"/>
              </a:ext>
            </a:extLst>
          </p:cNvPr>
          <p:cNvSpPr>
            <a:spLocks noGrp="1"/>
          </p:cNvSpPr>
          <p:nvPr>
            <p:ph sz="half" idx="4294967295"/>
          </p:nvPr>
        </p:nvSpPr>
        <p:spPr>
          <a:xfrm>
            <a:off x="821093" y="923732"/>
            <a:ext cx="4898571" cy="4946844"/>
          </a:xfrm>
        </p:spPr>
        <p:txBody>
          <a:bodyPr>
            <a:normAutofit fontScale="92500" lnSpcReduction="10000"/>
          </a:bodyPr>
          <a:lstStyle/>
          <a:p>
            <a:pPr algn="l"/>
            <a:endParaRPr lang="en-IN" sz="2000" b="0" i="0" u="none" strike="noStrike" baseline="0" dirty="0">
              <a:solidFill>
                <a:srgbClr val="000000"/>
              </a:solidFill>
              <a:latin typeface="+mj-lt"/>
            </a:endParaRPr>
          </a:p>
          <a:p>
            <a:r>
              <a:rPr lang="en-US" sz="2000" b="0" i="0" u="none" strike="noStrike" baseline="0" dirty="0">
                <a:solidFill>
                  <a:srgbClr val="000000"/>
                </a:solidFill>
                <a:latin typeface="+mj-lt"/>
              </a:rPr>
              <a:t> Two types of ectodermal glands open into the genital chamber. </a:t>
            </a:r>
          </a:p>
          <a:p>
            <a:r>
              <a:rPr lang="en-US" sz="2000" b="0" i="0" u="none" strike="noStrike" baseline="0" dirty="0">
                <a:solidFill>
                  <a:srgbClr val="000000"/>
                </a:solidFill>
                <a:latin typeface="+mj-lt"/>
              </a:rPr>
              <a:t>The first is the </a:t>
            </a:r>
            <a:r>
              <a:rPr lang="en-US" sz="2000" b="1" i="0" u="none" strike="noStrike" baseline="0" dirty="0">
                <a:solidFill>
                  <a:srgbClr val="000000"/>
                </a:solidFill>
                <a:latin typeface="+mj-lt"/>
              </a:rPr>
              <a:t>spermatheca </a:t>
            </a:r>
            <a:r>
              <a:rPr lang="en-US" sz="2000" b="0" i="0" u="none" strike="noStrike" baseline="0" dirty="0">
                <a:solidFill>
                  <a:srgbClr val="000000"/>
                </a:solidFill>
                <a:latin typeface="+mj-lt"/>
              </a:rPr>
              <a:t>which stores </a:t>
            </a:r>
            <a:r>
              <a:rPr lang="en-US" sz="2000" b="1" i="0" u="none" strike="noStrike" baseline="0" dirty="0" err="1">
                <a:solidFill>
                  <a:srgbClr val="000000"/>
                </a:solidFill>
                <a:latin typeface="+mj-lt"/>
              </a:rPr>
              <a:t>spermatoza</a:t>
            </a:r>
            <a:r>
              <a:rPr lang="en-US" sz="2000" b="1" i="0" u="none" strike="noStrike" baseline="0" dirty="0">
                <a:solidFill>
                  <a:srgbClr val="000000"/>
                </a:solidFill>
                <a:latin typeface="+mj-lt"/>
              </a:rPr>
              <a:t> </a:t>
            </a:r>
            <a:r>
              <a:rPr lang="en-US" sz="2000" b="0" i="0" u="none" strike="noStrike" baseline="0" dirty="0">
                <a:solidFill>
                  <a:srgbClr val="000000"/>
                </a:solidFill>
                <a:latin typeface="+mj-lt"/>
              </a:rPr>
              <a:t>until they are needed for egg fertilization. </a:t>
            </a:r>
            <a:endParaRPr lang="en-IN" sz="2000" b="0" i="0" u="none" strike="noStrike" baseline="0" dirty="0">
              <a:solidFill>
                <a:srgbClr val="000000"/>
              </a:solidFill>
              <a:latin typeface="Arial" panose="020B0604020202020204" pitchFamily="34" charset="0"/>
            </a:endParaRPr>
          </a:p>
          <a:p>
            <a:r>
              <a:rPr lang="en-US" sz="2000" b="0" i="0" u="none" strike="noStrike" baseline="0" dirty="0">
                <a:solidFill>
                  <a:srgbClr val="000000"/>
                </a:solidFill>
                <a:latin typeface="+mj-lt"/>
              </a:rPr>
              <a:t>The second type of ectodermal gland, known collectively as </a:t>
            </a:r>
            <a:r>
              <a:rPr lang="en-US" sz="2000" b="1" i="0" u="none" strike="noStrike" baseline="0" dirty="0">
                <a:solidFill>
                  <a:srgbClr val="000000"/>
                </a:solidFill>
                <a:latin typeface="+mj-lt"/>
              </a:rPr>
              <a:t>accessory glands</a:t>
            </a:r>
            <a:r>
              <a:rPr lang="en-US" sz="2000" b="0" i="0" u="none" strike="noStrike" baseline="0" dirty="0">
                <a:solidFill>
                  <a:srgbClr val="000000"/>
                </a:solidFill>
                <a:latin typeface="+mj-lt"/>
              </a:rPr>
              <a:t>, opens more posteriorly in the genital chamber.</a:t>
            </a:r>
          </a:p>
          <a:p>
            <a:r>
              <a:rPr lang="en-US" sz="2000" b="0" i="0" u="none" strike="noStrike" baseline="0" dirty="0">
                <a:solidFill>
                  <a:srgbClr val="000000"/>
                </a:solidFill>
                <a:latin typeface="+mj-lt"/>
              </a:rPr>
              <a:t>Each ovary is composed of a cluster of egg or ovarian tubes, the </a:t>
            </a:r>
            <a:r>
              <a:rPr lang="en-US" sz="2000" b="1" i="0" u="none" strike="noStrike" baseline="0" dirty="0">
                <a:solidFill>
                  <a:srgbClr val="000000"/>
                </a:solidFill>
                <a:latin typeface="+mj-lt"/>
              </a:rPr>
              <a:t>ovarioles, </a:t>
            </a:r>
            <a:r>
              <a:rPr lang="en-US" sz="2000" b="0" i="0" u="none" strike="noStrike" baseline="0" dirty="0">
                <a:solidFill>
                  <a:srgbClr val="000000"/>
                </a:solidFill>
                <a:latin typeface="+mj-lt"/>
              </a:rPr>
              <a:t>each consisting of a </a:t>
            </a:r>
            <a:r>
              <a:rPr lang="en-US" sz="2000" b="1" i="0" u="none" strike="noStrike" baseline="0" dirty="0">
                <a:solidFill>
                  <a:srgbClr val="000000"/>
                </a:solidFill>
                <a:latin typeface="+mj-lt"/>
              </a:rPr>
              <a:t>terminal filament</a:t>
            </a:r>
            <a:r>
              <a:rPr lang="en-US" sz="2000" b="0" i="0" u="none" strike="noStrike" baseline="0" dirty="0">
                <a:solidFill>
                  <a:srgbClr val="000000"/>
                </a:solidFill>
                <a:latin typeface="+mj-lt"/>
              </a:rPr>
              <a:t>, a </a:t>
            </a:r>
            <a:r>
              <a:rPr lang="en-US" sz="2000" b="1" i="0" u="none" strike="noStrike" baseline="0" dirty="0">
                <a:solidFill>
                  <a:srgbClr val="000000"/>
                </a:solidFill>
                <a:latin typeface="+mj-lt"/>
              </a:rPr>
              <a:t>germarium </a:t>
            </a:r>
            <a:r>
              <a:rPr lang="en-US" sz="2000" b="0" i="0" u="none" strike="noStrike" baseline="0" dirty="0">
                <a:solidFill>
                  <a:srgbClr val="000000"/>
                </a:solidFill>
                <a:latin typeface="+mj-lt"/>
              </a:rPr>
              <a:t>(in which mitosis gives rise to primary oocytes), a </a:t>
            </a:r>
            <a:r>
              <a:rPr lang="en-US" sz="2000" b="1" i="0" u="none" strike="noStrike" baseline="0" dirty="0">
                <a:solidFill>
                  <a:srgbClr val="000000"/>
                </a:solidFill>
                <a:latin typeface="+mj-lt"/>
              </a:rPr>
              <a:t>vitellarium </a:t>
            </a:r>
            <a:r>
              <a:rPr lang="en-US" sz="2000" b="0" i="0" u="none" strike="noStrike" baseline="0" dirty="0">
                <a:solidFill>
                  <a:srgbClr val="000000"/>
                </a:solidFill>
                <a:latin typeface="+mj-lt"/>
              </a:rPr>
              <a:t>(in which oocytes grow by deposition of yolk in a process known as vitellogenesis) and a </a:t>
            </a:r>
            <a:r>
              <a:rPr lang="en-US" sz="2000" b="1" i="0" u="none" strike="noStrike" baseline="0" dirty="0">
                <a:solidFill>
                  <a:srgbClr val="000000"/>
                </a:solidFill>
                <a:latin typeface="+mj-lt"/>
              </a:rPr>
              <a:t>pedicel</a:t>
            </a:r>
            <a:r>
              <a:rPr lang="en-US" sz="2000" b="0" i="0" u="none" strike="noStrike" baseline="0" dirty="0">
                <a:solidFill>
                  <a:srgbClr val="000000"/>
                </a:solidFill>
                <a:latin typeface="+mj-lt"/>
              </a:rPr>
              <a:t>.</a:t>
            </a:r>
            <a:endParaRPr lang="en-IN" sz="2000" dirty="0">
              <a:latin typeface="+mj-lt"/>
            </a:endParaRPr>
          </a:p>
        </p:txBody>
      </p:sp>
      <p:pic>
        <p:nvPicPr>
          <p:cNvPr id="2" name="Picture 1">
            <a:extLst>
              <a:ext uri="{FF2B5EF4-FFF2-40B4-BE49-F238E27FC236}">
                <a16:creationId xmlns:a16="http://schemas.microsoft.com/office/drawing/2014/main" id="{63E7BCB8-11D3-EA49-6AC6-27069F47FC54}"/>
              </a:ext>
            </a:extLst>
          </p:cNvPr>
          <p:cNvPicPr>
            <a:picLocks noChangeAspect="1"/>
          </p:cNvPicPr>
          <p:nvPr/>
        </p:nvPicPr>
        <p:blipFill>
          <a:blip r:embed="rId2"/>
          <a:stretch>
            <a:fillRect/>
          </a:stretch>
        </p:blipFill>
        <p:spPr>
          <a:xfrm>
            <a:off x="6096000" y="1306285"/>
            <a:ext cx="5126805" cy="4430085"/>
          </a:xfrm>
          <a:prstGeom prst="rect">
            <a:avLst/>
          </a:prstGeom>
        </p:spPr>
      </p:pic>
    </p:spTree>
    <p:extLst>
      <p:ext uri="{BB962C8B-B14F-4D97-AF65-F5344CB8AC3E}">
        <p14:creationId xmlns:p14="http://schemas.microsoft.com/office/powerpoint/2010/main" val="779373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E0CE79-2A18-F8DF-EEFA-7D0E5796B807}"/>
              </a:ext>
            </a:extLst>
          </p:cNvPr>
          <p:cNvPicPr>
            <a:picLocks noChangeAspect="1"/>
          </p:cNvPicPr>
          <p:nvPr/>
        </p:nvPicPr>
        <p:blipFill>
          <a:blip r:embed="rId2"/>
          <a:stretch>
            <a:fillRect/>
          </a:stretch>
        </p:blipFill>
        <p:spPr>
          <a:xfrm>
            <a:off x="2457061" y="1329901"/>
            <a:ext cx="7277877" cy="4198198"/>
          </a:xfrm>
          <a:prstGeom prst="rect">
            <a:avLst/>
          </a:prstGeom>
        </p:spPr>
      </p:pic>
    </p:spTree>
    <p:extLst>
      <p:ext uri="{BB962C8B-B14F-4D97-AF65-F5344CB8AC3E}">
        <p14:creationId xmlns:p14="http://schemas.microsoft.com/office/powerpoint/2010/main" val="784008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98C0C-37C9-AA22-A687-350CD8C0F05B}"/>
              </a:ext>
            </a:extLst>
          </p:cNvPr>
          <p:cNvSpPr>
            <a:spLocks noGrp="1"/>
          </p:cNvSpPr>
          <p:nvPr>
            <p:ph type="title" idx="4294967295"/>
          </p:nvPr>
        </p:nvSpPr>
        <p:spPr>
          <a:xfrm>
            <a:off x="1884784" y="158621"/>
            <a:ext cx="7716416" cy="2127380"/>
          </a:xfrm>
        </p:spPr>
        <p:txBody>
          <a:bodyPr/>
          <a:lstStyle/>
          <a:p>
            <a:r>
              <a:rPr lang="en-IN" sz="1800" b="1" i="0" u="none" strike="noStrike" baseline="0" dirty="0">
                <a:solidFill>
                  <a:srgbClr val="000000"/>
                </a:solidFill>
              </a:rPr>
              <a:t>MALE REPRODUCTIVE SYSTEM</a:t>
            </a:r>
            <a:endParaRPr lang="en-IN" dirty="0"/>
          </a:p>
        </p:txBody>
      </p:sp>
      <p:sp>
        <p:nvSpPr>
          <p:cNvPr id="3" name="Content Placeholder 2">
            <a:extLst>
              <a:ext uri="{FF2B5EF4-FFF2-40B4-BE49-F238E27FC236}">
                <a16:creationId xmlns:a16="http://schemas.microsoft.com/office/drawing/2014/main" id="{6744A0BB-D68B-ABC7-11F2-91B1E04A1791}"/>
              </a:ext>
            </a:extLst>
          </p:cNvPr>
          <p:cNvSpPr>
            <a:spLocks noGrp="1"/>
          </p:cNvSpPr>
          <p:nvPr>
            <p:ph idx="4294967295"/>
          </p:nvPr>
        </p:nvSpPr>
        <p:spPr>
          <a:xfrm>
            <a:off x="867747" y="1744825"/>
            <a:ext cx="10254343" cy="4130514"/>
          </a:xfrm>
        </p:spPr>
        <p:txBody>
          <a:bodyPr>
            <a:noAutofit/>
          </a:bodyPr>
          <a:lstStyle/>
          <a:p>
            <a:r>
              <a:rPr lang="en-US" sz="2000" b="0" i="0" u="none" strike="noStrike" baseline="0" dirty="0">
                <a:solidFill>
                  <a:srgbClr val="000000"/>
                </a:solidFill>
                <a:latin typeface="+mj-lt"/>
              </a:rPr>
              <a:t>The main functions of the male reproductive system are the </a:t>
            </a:r>
            <a:r>
              <a:rPr lang="en-US" sz="2000" b="1" i="0" u="none" strike="noStrike" baseline="0" dirty="0">
                <a:solidFill>
                  <a:srgbClr val="000000"/>
                </a:solidFill>
                <a:latin typeface="+mj-lt"/>
              </a:rPr>
              <a:t>production and storage </a:t>
            </a:r>
            <a:r>
              <a:rPr lang="en-US" sz="2000" b="0" i="0" u="none" strike="noStrike" baseline="0" dirty="0">
                <a:solidFill>
                  <a:srgbClr val="000000"/>
                </a:solidFill>
                <a:latin typeface="+mj-lt"/>
              </a:rPr>
              <a:t>of spermatozoa and their transport in a viable state to the reproductive tract of the female.</a:t>
            </a:r>
          </a:p>
          <a:p>
            <a:pPr marL="0" indent="0">
              <a:buNone/>
            </a:pPr>
            <a:endParaRPr lang="en-US" sz="2000" b="0" i="0" u="none" strike="noStrike" baseline="0" dirty="0">
              <a:solidFill>
                <a:srgbClr val="000000"/>
              </a:solidFill>
              <a:latin typeface="+mj-lt"/>
            </a:endParaRPr>
          </a:p>
          <a:p>
            <a:r>
              <a:rPr lang="en-US" sz="2000" b="0" i="0" u="none" strike="noStrike" baseline="0" dirty="0">
                <a:solidFill>
                  <a:srgbClr val="000000"/>
                </a:solidFill>
                <a:latin typeface="+mj-lt"/>
              </a:rPr>
              <a:t>Morphologically, the male tract consists of paired </a:t>
            </a:r>
            <a:r>
              <a:rPr lang="en-US" sz="2000" b="1" i="0" u="none" strike="noStrike" baseline="0" dirty="0">
                <a:solidFill>
                  <a:srgbClr val="000000"/>
                </a:solidFill>
                <a:latin typeface="+mj-lt"/>
              </a:rPr>
              <a:t>testes</a:t>
            </a:r>
            <a:r>
              <a:rPr lang="en-US" sz="2000" b="0" i="0" u="none" strike="noStrike" baseline="0" dirty="0">
                <a:solidFill>
                  <a:srgbClr val="000000"/>
                </a:solidFill>
                <a:latin typeface="+mj-lt"/>
              </a:rPr>
              <a:t>, each containing a series of testicular tubes or follicles (in which spermatozoa are produced) which open separately into the </a:t>
            </a:r>
            <a:r>
              <a:rPr lang="en-US" sz="2000" b="0" i="0" u="none" strike="noStrike" baseline="0" dirty="0" err="1">
                <a:solidFill>
                  <a:srgbClr val="000000"/>
                </a:solidFill>
                <a:latin typeface="+mj-lt"/>
              </a:rPr>
              <a:t>mesodermally</a:t>
            </a:r>
            <a:r>
              <a:rPr lang="en-US" sz="2000" b="0" i="0" u="none" strike="noStrike" baseline="0" dirty="0">
                <a:solidFill>
                  <a:srgbClr val="000000"/>
                </a:solidFill>
                <a:latin typeface="+mj-lt"/>
              </a:rPr>
              <a:t> derived sperm duct or </a:t>
            </a:r>
            <a:r>
              <a:rPr lang="en-US" sz="2000" b="1" i="0" u="none" strike="noStrike" baseline="0" dirty="0">
                <a:solidFill>
                  <a:srgbClr val="000000"/>
                </a:solidFill>
                <a:latin typeface="+mj-lt"/>
              </a:rPr>
              <a:t>Vas deferens </a:t>
            </a:r>
            <a:r>
              <a:rPr lang="en-US" sz="2000" b="0" i="0" u="none" strike="noStrike" baseline="0" dirty="0">
                <a:solidFill>
                  <a:srgbClr val="000000"/>
                </a:solidFill>
                <a:latin typeface="+mj-lt"/>
              </a:rPr>
              <a:t>which expands posteriorly to form a sperm storage organ or </a:t>
            </a:r>
            <a:r>
              <a:rPr lang="en-US" sz="2000" b="1" i="0" u="none" strike="noStrike" baseline="0" dirty="0">
                <a:solidFill>
                  <a:srgbClr val="000000"/>
                </a:solidFill>
                <a:latin typeface="+mj-lt"/>
              </a:rPr>
              <a:t>seminal vesicle</a:t>
            </a:r>
            <a:r>
              <a:rPr lang="en-US" sz="2000" b="0" i="0" u="none" strike="noStrike" baseline="0" dirty="0">
                <a:solidFill>
                  <a:srgbClr val="000000"/>
                </a:solidFill>
                <a:latin typeface="+mj-lt"/>
              </a:rPr>
              <a:t>. </a:t>
            </a:r>
          </a:p>
          <a:p>
            <a:pPr marL="0" indent="0">
              <a:buNone/>
            </a:pPr>
            <a:endParaRPr lang="en-US" sz="2000" b="0" i="0" u="none" strike="noStrike" baseline="0" dirty="0">
              <a:solidFill>
                <a:srgbClr val="000000"/>
              </a:solidFill>
              <a:latin typeface="+mj-lt"/>
            </a:endParaRPr>
          </a:p>
          <a:p>
            <a:r>
              <a:rPr lang="en-US" sz="2000" b="0" i="0" u="none" strike="noStrike" baseline="0" dirty="0">
                <a:solidFill>
                  <a:srgbClr val="000000"/>
                </a:solidFill>
                <a:latin typeface="+mj-lt"/>
              </a:rPr>
              <a:t>Tubular paired </a:t>
            </a:r>
            <a:r>
              <a:rPr lang="en-US" sz="2000" b="1" i="0" u="none" strike="noStrike" baseline="0" dirty="0">
                <a:solidFill>
                  <a:srgbClr val="000000"/>
                </a:solidFill>
                <a:latin typeface="+mj-lt"/>
              </a:rPr>
              <a:t>accessory glands </a:t>
            </a:r>
            <a:r>
              <a:rPr lang="en-US" sz="2000" b="0" i="0" u="none" strike="noStrike" baseline="0" dirty="0">
                <a:solidFill>
                  <a:srgbClr val="000000"/>
                </a:solidFill>
                <a:latin typeface="+mj-lt"/>
              </a:rPr>
              <a:t>are formed as diverticula of the vasa </a:t>
            </a:r>
            <a:r>
              <a:rPr lang="en-US" sz="2000" b="0" i="0" u="none" strike="noStrike" baseline="0" dirty="0" err="1">
                <a:solidFill>
                  <a:srgbClr val="000000"/>
                </a:solidFill>
                <a:latin typeface="+mj-lt"/>
              </a:rPr>
              <a:t>deferentia</a:t>
            </a:r>
            <a:r>
              <a:rPr lang="en-US" sz="2000" b="0" i="0" u="none" strike="noStrike" baseline="0" dirty="0">
                <a:solidFill>
                  <a:srgbClr val="000000"/>
                </a:solidFill>
                <a:latin typeface="+mj-lt"/>
              </a:rPr>
              <a:t>. Sometimes the vasa </a:t>
            </a:r>
            <a:r>
              <a:rPr lang="en-US" sz="2000" b="0" i="0" u="none" strike="noStrike" baseline="0" dirty="0" err="1">
                <a:solidFill>
                  <a:srgbClr val="000000"/>
                </a:solidFill>
                <a:latin typeface="+mj-lt"/>
              </a:rPr>
              <a:t>deferentia</a:t>
            </a:r>
            <a:r>
              <a:rPr lang="en-US" sz="2000" b="0" i="0" u="none" strike="noStrike" baseline="0" dirty="0">
                <a:solidFill>
                  <a:srgbClr val="000000"/>
                </a:solidFill>
                <a:latin typeface="+mj-lt"/>
              </a:rPr>
              <a:t> themselves are glandular and fulfil the functions of accessory glands. The paired vasa </a:t>
            </a:r>
            <a:r>
              <a:rPr lang="en-US" sz="2000" b="0" i="0" u="none" strike="noStrike" baseline="0" dirty="0" err="1">
                <a:solidFill>
                  <a:srgbClr val="000000"/>
                </a:solidFill>
                <a:latin typeface="+mj-lt"/>
              </a:rPr>
              <a:t>deferentia</a:t>
            </a:r>
            <a:r>
              <a:rPr lang="en-US" sz="2000" b="0" i="0" u="none" strike="noStrike" baseline="0" dirty="0">
                <a:solidFill>
                  <a:srgbClr val="000000"/>
                </a:solidFill>
                <a:latin typeface="+mj-lt"/>
              </a:rPr>
              <a:t> unite where they lead into the </a:t>
            </a:r>
            <a:r>
              <a:rPr lang="en-US" sz="2000" b="0" i="0" u="none" strike="noStrike" baseline="0" dirty="0" err="1">
                <a:solidFill>
                  <a:srgbClr val="000000"/>
                </a:solidFill>
                <a:latin typeface="+mj-lt"/>
              </a:rPr>
              <a:t>ectodermally</a:t>
            </a:r>
            <a:r>
              <a:rPr lang="en-US" sz="2000" b="0" i="0" u="none" strike="noStrike" baseline="0" dirty="0">
                <a:solidFill>
                  <a:srgbClr val="000000"/>
                </a:solidFill>
                <a:latin typeface="+mj-lt"/>
              </a:rPr>
              <a:t> derived </a:t>
            </a:r>
            <a:r>
              <a:rPr lang="en-US" sz="2000" b="1" i="0" u="none" strike="noStrike" baseline="0" dirty="0">
                <a:solidFill>
                  <a:srgbClr val="000000"/>
                </a:solidFill>
                <a:latin typeface="+mj-lt"/>
              </a:rPr>
              <a:t>ejaculatory duct </a:t>
            </a:r>
            <a:r>
              <a:rPr lang="en-US" sz="2000" b="0" i="0" u="none" strike="noStrike" baseline="0" dirty="0">
                <a:solidFill>
                  <a:srgbClr val="000000"/>
                </a:solidFill>
                <a:latin typeface="+mj-lt"/>
              </a:rPr>
              <a:t>(the tube that transports the semen or the sperm to the gonopore). </a:t>
            </a:r>
            <a:endParaRPr lang="en-IN" sz="2000" dirty="0">
              <a:latin typeface="+mj-lt"/>
            </a:endParaRPr>
          </a:p>
        </p:txBody>
      </p:sp>
    </p:spTree>
    <p:extLst>
      <p:ext uri="{BB962C8B-B14F-4D97-AF65-F5344CB8AC3E}">
        <p14:creationId xmlns:p14="http://schemas.microsoft.com/office/powerpoint/2010/main" val="3616858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CAB65-5611-8C47-09C7-9EAAC109F386}"/>
              </a:ext>
            </a:extLst>
          </p:cNvPr>
          <p:cNvSpPr>
            <a:spLocks noGrp="1"/>
          </p:cNvSpPr>
          <p:nvPr>
            <p:ph idx="4294967295"/>
          </p:nvPr>
        </p:nvSpPr>
        <p:spPr>
          <a:xfrm>
            <a:off x="933060" y="711199"/>
            <a:ext cx="10506271" cy="5164139"/>
          </a:xfrm>
        </p:spPr>
        <p:txBody>
          <a:bodyPr>
            <a:normAutofit/>
          </a:bodyPr>
          <a:lstStyle/>
          <a:p>
            <a:pPr algn="just"/>
            <a:r>
              <a:rPr lang="en-US" sz="2000" b="0" i="0" u="none" strike="noStrike" baseline="0" dirty="0">
                <a:solidFill>
                  <a:srgbClr val="000000"/>
                </a:solidFill>
                <a:latin typeface="+mj-lt"/>
              </a:rPr>
              <a:t>Accessory glands are 1-3 pair, either mesodermal of ectodermal in origin and associated with vasa </a:t>
            </a:r>
            <a:r>
              <a:rPr lang="en-US" sz="2000" b="0" i="0" u="none" strike="noStrike" baseline="0" dirty="0" err="1">
                <a:solidFill>
                  <a:srgbClr val="000000"/>
                </a:solidFill>
                <a:latin typeface="+mj-lt"/>
              </a:rPr>
              <a:t>deferentia</a:t>
            </a:r>
            <a:r>
              <a:rPr lang="en-US" sz="2000" b="0" i="0" u="none" strike="noStrike" baseline="0" dirty="0">
                <a:solidFill>
                  <a:srgbClr val="000000"/>
                </a:solidFill>
                <a:latin typeface="+mj-lt"/>
              </a:rPr>
              <a:t> or ejaculatory duct. Its function is to produce seminal fluid and spermatophores (sperm containing capsule).</a:t>
            </a:r>
            <a:endParaRPr lang="en-IN" sz="2000" dirty="0">
              <a:latin typeface="+mj-lt"/>
            </a:endParaRPr>
          </a:p>
        </p:txBody>
      </p:sp>
      <p:pic>
        <p:nvPicPr>
          <p:cNvPr id="5" name="Picture 4">
            <a:extLst>
              <a:ext uri="{FF2B5EF4-FFF2-40B4-BE49-F238E27FC236}">
                <a16:creationId xmlns:a16="http://schemas.microsoft.com/office/drawing/2014/main" id="{52F0D515-5FCD-E4AB-17B1-2E3FDA679198}"/>
              </a:ext>
            </a:extLst>
          </p:cNvPr>
          <p:cNvPicPr>
            <a:picLocks noChangeAspect="1"/>
          </p:cNvPicPr>
          <p:nvPr/>
        </p:nvPicPr>
        <p:blipFill>
          <a:blip r:embed="rId2"/>
          <a:stretch>
            <a:fillRect/>
          </a:stretch>
        </p:blipFill>
        <p:spPr>
          <a:xfrm>
            <a:off x="5432606" y="1892570"/>
            <a:ext cx="3319508" cy="3982767"/>
          </a:xfrm>
          <a:prstGeom prst="rect">
            <a:avLst/>
          </a:prstGeom>
        </p:spPr>
      </p:pic>
    </p:spTree>
    <p:extLst>
      <p:ext uri="{BB962C8B-B14F-4D97-AF65-F5344CB8AC3E}">
        <p14:creationId xmlns:p14="http://schemas.microsoft.com/office/powerpoint/2010/main" val="3142389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ACAD-8033-B01D-E85C-9C8139FCC7F3}"/>
              </a:ext>
            </a:extLst>
          </p:cNvPr>
          <p:cNvSpPr>
            <a:spLocks noGrp="1"/>
          </p:cNvSpPr>
          <p:nvPr>
            <p:ph type="title"/>
          </p:nvPr>
        </p:nvSpPr>
        <p:spPr/>
        <p:txBody>
          <a:bodyPr/>
          <a:lstStyle/>
          <a:p>
            <a:br>
              <a:rPr lang="en-IN" sz="1800" b="0" i="0" u="none" strike="noStrike" baseline="0" dirty="0">
                <a:solidFill>
                  <a:srgbClr val="000000"/>
                </a:solidFill>
              </a:rPr>
            </a:br>
            <a:r>
              <a:rPr lang="en-IN" sz="1800" b="0" i="0" u="none" strike="noStrike" baseline="0" dirty="0">
                <a:solidFill>
                  <a:srgbClr val="000000"/>
                </a:solidFill>
              </a:rPr>
              <a:t> </a:t>
            </a:r>
            <a:r>
              <a:rPr lang="en-IN" sz="1800" b="1" i="0" u="none" strike="noStrike" baseline="0" dirty="0">
                <a:solidFill>
                  <a:srgbClr val="000000"/>
                </a:solidFill>
              </a:rPr>
              <a:t>PHYSIOLOGY OF REPRODUCTION</a:t>
            </a:r>
            <a:endParaRPr lang="en-IN" dirty="0"/>
          </a:p>
        </p:txBody>
      </p:sp>
      <p:sp>
        <p:nvSpPr>
          <p:cNvPr id="3" name="Content Placeholder 2">
            <a:extLst>
              <a:ext uri="{FF2B5EF4-FFF2-40B4-BE49-F238E27FC236}">
                <a16:creationId xmlns:a16="http://schemas.microsoft.com/office/drawing/2014/main" id="{A0DBC74A-1B5C-4C83-784C-F0EAB8DB0F01}"/>
              </a:ext>
            </a:extLst>
          </p:cNvPr>
          <p:cNvSpPr>
            <a:spLocks noGrp="1"/>
          </p:cNvSpPr>
          <p:nvPr>
            <p:ph idx="1"/>
          </p:nvPr>
        </p:nvSpPr>
        <p:spPr/>
        <p:txBody>
          <a:bodyPr>
            <a:normAutofit fontScale="92500" lnSpcReduction="10000"/>
          </a:bodyPr>
          <a:lstStyle/>
          <a:p>
            <a:pPr algn="l"/>
            <a:endParaRPr lang="en-IN" sz="1800" b="0" i="0" u="none" strike="noStrike" baseline="0" dirty="0">
              <a:solidFill>
                <a:srgbClr val="000000"/>
              </a:solidFill>
              <a:latin typeface="+mj-lt"/>
            </a:endParaRPr>
          </a:p>
          <a:p>
            <a:r>
              <a:rPr lang="en-IN" sz="1800" b="1" i="0" u="none" strike="noStrike" baseline="0" dirty="0">
                <a:solidFill>
                  <a:srgbClr val="000000"/>
                </a:solidFill>
                <a:latin typeface="+mj-lt"/>
              </a:rPr>
              <a:t>1. Spermatogenesis</a:t>
            </a:r>
            <a:r>
              <a:rPr lang="en-IN" sz="1800" b="0" i="0" u="none" strike="noStrike" baseline="0" dirty="0">
                <a:solidFill>
                  <a:srgbClr val="000000"/>
                </a:solidFill>
                <a:latin typeface="+mj-lt"/>
              </a:rPr>
              <a:t>: (occurs inside sperm tube) </a:t>
            </a:r>
          </a:p>
          <a:p>
            <a:r>
              <a:rPr lang="nb-NO" sz="1800" b="1" i="0" u="none" strike="noStrike" baseline="0" dirty="0">
                <a:solidFill>
                  <a:srgbClr val="000000"/>
                </a:solidFill>
                <a:latin typeface="+mj-lt"/>
              </a:rPr>
              <a:t>2. Oogenesis </a:t>
            </a:r>
            <a:r>
              <a:rPr lang="nb-NO" sz="1800" b="0" i="0" u="none" strike="noStrike" baseline="0" dirty="0">
                <a:solidFill>
                  <a:srgbClr val="000000"/>
                </a:solidFill>
                <a:latin typeface="+mj-lt"/>
              </a:rPr>
              <a:t>: (occurs inside egg tube) </a:t>
            </a:r>
          </a:p>
          <a:p>
            <a:pPr algn="l"/>
            <a:endParaRPr lang="en-IN" sz="1800" b="0" i="0" u="none" strike="noStrike" baseline="0" dirty="0">
              <a:solidFill>
                <a:srgbClr val="000000"/>
              </a:solidFill>
              <a:latin typeface="+mj-lt"/>
            </a:endParaRPr>
          </a:p>
          <a:p>
            <a:r>
              <a:rPr lang="en-IN" sz="1800" b="0" i="0" u="none" strike="noStrike" baseline="0" dirty="0">
                <a:solidFill>
                  <a:srgbClr val="000000"/>
                </a:solidFill>
                <a:latin typeface="+mj-lt"/>
              </a:rPr>
              <a:t> </a:t>
            </a:r>
            <a:r>
              <a:rPr lang="en-IN" sz="1800" b="1" i="0" u="none" strike="noStrike" baseline="0" dirty="0">
                <a:solidFill>
                  <a:srgbClr val="000000"/>
                </a:solidFill>
                <a:latin typeface="+mj-lt"/>
              </a:rPr>
              <a:t>3. Sperm transfer </a:t>
            </a:r>
            <a:endParaRPr lang="en-IN" sz="1800" b="0" i="0" u="none" strike="noStrike" baseline="0" dirty="0">
              <a:solidFill>
                <a:srgbClr val="000000"/>
              </a:solidFill>
              <a:latin typeface="+mj-lt"/>
            </a:endParaRPr>
          </a:p>
          <a:p>
            <a:pPr marL="0" indent="0">
              <a:buNone/>
            </a:pPr>
            <a:r>
              <a:rPr lang="en-US" sz="1800" b="1" i="0" u="none" strike="noStrike" baseline="0" dirty="0">
                <a:solidFill>
                  <a:srgbClr val="000000"/>
                </a:solidFill>
                <a:latin typeface="+mj-lt"/>
              </a:rPr>
              <a:t>(</a:t>
            </a:r>
            <a:r>
              <a:rPr lang="en-US" sz="1800" b="1" i="0" u="none" strike="noStrike" baseline="0" dirty="0" err="1">
                <a:solidFill>
                  <a:srgbClr val="000000"/>
                </a:solidFill>
                <a:latin typeface="+mj-lt"/>
              </a:rPr>
              <a:t>i</a:t>
            </a:r>
            <a:r>
              <a:rPr lang="en-US" sz="1800" b="1" i="0" u="none" strike="noStrike" baseline="0" dirty="0">
                <a:solidFill>
                  <a:srgbClr val="000000"/>
                </a:solidFill>
                <a:latin typeface="+mj-lt"/>
              </a:rPr>
              <a:t>) </a:t>
            </a:r>
            <a:r>
              <a:rPr lang="en-US" sz="1800" b="1" i="0" u="none" strike="noStrike" baseline="0" dirty="0" err="1">
                <a:solidFill>
                  <a:srgbClr val="000000"/>
                </a:solidFill>
                <a:latin typeface="+mj-lt"/>
              </a:rPr>
              <a:t>Intragenital</a:t>
            </a:r>
            <a:r>
              <a:rPr lang="en-US" sz="1800" b="1" i="0" u="none" strike="noStrike" baseline="0" dirty="0">
                <a:solidFill>
                  <a:srgbClr val="000000"/>
                </a:solidFill>
                <a:latin typeface="+mj-lt"/>
              </a:rPr>
              <a:t>: </a:t>
            </a:r>
            <a:r>
              <a:rPr lang="en-US" sz="1800" b="0" i="0" u="none" strike="noStrike" baseline="0" dirty="0">
                <a:solidFill>
                  <a:srgbClr val="000000"/>
                </a:solidFill>
                <a:latin typeface="+mj-lt"/>
              </a:rPr>
              <a:t>Common method, through, aedeagus via vaginal orifice into female genital passage. </a:t>
            </a:r>
          </a:p>
          <a:p>
            <a:pPr marL="0" indent="0">
              <a:buNone/>
            </a:pPr>
            <a:r>
              <a:rPr lang="en-US" sz="1800" b="1" i="0" u="none" strike="noStrike" baseline="0" dirty="0">
                <a:solidFill>
                  <a:srgbClr val="000000"/>
                </a:solidFill>
                <a:latin typeface="+mj-lt"/>
              </a:rPr>
              <a:t>(ii) </a:t>
            </a:r>
            <a:r>
              <a:rPr lang="en-US" sz="1800" b="1" i="0" u="none" strike="noStrike" baseline="0" dirty="0" err="1">
                <a:solidFill>
                  <a:srgbClr val="000000"/>
                </a:solidFill>
                <a:latin typeface="+mj-lt"/>
              </a:rPr>
              <a:t>Haemocoelous</a:t>
            </a:r>
            <a:r>
              <a:rPr lang="en-US" sz="1800" b="1" i="0" u="none" strike="noStrike" baseline="0" dirty="0">
                <a:solidFill>
                  <a:srgbClr val="000000"/>
                </a:solidFill>
                <a:latin typeface="+mj-lt"/>
              </a:rPr>
              <a:t>: </a:t>
            </a:r>
            <a:r>
              <a:rPr lang="en-US" sz="1800" b="0" i="0" u="none" strike="noStrike" baseline="0" dirty="0">
                <a:solidFill>
                  <a:srgbClr val="000000"/>
                </a:solidFill>
                <a:latin typeface="+mj-lt"/>
              </a:rPr>
              <a:t>Sperms </a:t>
            </a:r>
            <a:r>
              <a:rPr lang="en-US" sz="1800" b="0" i="0" u="none" strike="noStrike" baseline="0" dirty="0" err="1">
                <a:solidFill>
                  <a:srgbClr val="000000"/>
                </a:solidFill>
                <a:latin typeface="+mj-lt"/>
              </a:rPr>
              <a:t>transfered</a:t>
            </a:r>
            <a:r>
              <a:rPr lang="en-US" sz="1800" b="0" i="0" u="none" strike="noStrike" baseline="0" dirty="0">
                <a:solidFill>
                  <a:srgbClr val="000000"/>
                </a:solidFill>
                <a:latin typeface="+mj-lt"/>
              </a:rPr>
              <a:t> into the body cavity e.g. Bed bug. </a:t>
            </a:r>
          </a:p>
          <a:p>
            <a:pPr marL="0" indent="0">
              <a:buNone/>
            </a:pPr>
            <a:r>
              <a:rPr lang="en-US" sz="1800" b="1" i="0" u="none" strike="noStrike" baseline="0" dirty="0">
                <a:solidFill>
                  <a:srgbClr val="000000"/>
                </a:solidFill>
                <a:latin typeface="+mj-lt"/>
              </a:rPr>
              <a:t>(iii)External: </a:t>
            </a:r>
            <a:r>
              <a:rPr lang="en-US" sz="1800" b="0" i="0" u="none" strike="noStrike" baseline="0" dirty="0">
                <a:solidFill>
                  <a:srgbClr val="000000"/>
                </a:solidFill>
                <a:latin typeface="+mj-lt"/>
              </a:rPr>
              <a:t>Spermatophores are ejected out into open place by male, while female walk over it and gets inseminated e.g. Silver fish.</a:t>
            </a:r>
            <a:endParaRPr lang="nb-NO" sz="1800" b="0" i="0" u="none" strike="noStrike" baseline="0" dirty="0">
              <a:solidFill>
                <a:srgbClr val="000000"/>
              </a:solidFill>
              <a:latin typeface="+mj-lt"/>
            </a:endParaRPr>
          </a:p>
        </p:txBody>
      </p:sp>
    </p:spTree>
    <p:extLst>
      <p:ext uri="{BB962C8B-B14F-4D97-AF65-F5344CB8AC3E}">
        <p14:creationId xmlns:p14="http://schemas.microsoft.com/office/powerpoint/2010/main" val="4043095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16A40-8DD4-BFF4-4AC3-C328510E8FFE}"/>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84B6E5F1-E289-BA67-33DF-7211BEAC08D3}"/>
              </a:ext>
            </a:extLst>
          </p:cNvPr>
          <p:cNvSpPr>
            <a:spLocks noGrp="1"/>
          </p:cNvSpPr>
          <p:nvPr>
            <p:ph idx="1"/>
          </p:nvPr>
        </p:nvSpPr>
        <p:spPr/>
        <p:txBody>
          <a:bodyPr>
            <a:normAutofit/>
          </a:bodyPr>
          <a:lstStyle/>
          <a:p>
            <a:pPr algn="l"/>
            <a:endParaRPr lang="en-IN" sz="2000" b="0" i="0" u="none" strike="noStrike" baseline="0" dirty="0">
              <a:solidFill>
                <a:srgbClr val="000000"/>
              </a:solidFill>
              <a:latin typeface="+mj-lt"/>
            </a:endParaRPr>
          </a:p>
          <a:p>
            <a:r>
              <a:rPr lang="en-US" sz="2000" b="0" i="0" u="none" strike="noStrike" baseline="0" dirty="0">
                <a:solidFill>
                  <a:srgbClr val="000000"/>
                </a:solidFill>
                <a:latin typeface="+mj-lt"/>
              </a:rPr>
              <a:t> </a:t>
            </a:r>
            <a:r>
              <a:rPr lang="en-US" sz="2000" b="1" i="0" u="none" strike="noStrike" baseline="0" dirty="0">
                <a:solidFill>
                  <a:srgbClr val="000000"/>
                </a:solidFill>
                <a:latin typeface="+mj-lt"/>
              </a:rPr>
              <a:t>4. Fertilization: </a:t>
            </a:r>
            <a:r>
              <a:rPr lang="en-US" sz="2000" b="0" i="0" u="none" strike="noStrike" baseline="0" dirty="0">
                <a:solidFill>
                  <a:srgbClr val="000000"/>
                </a:solidFill>
                <a:latin typeface="+mj-lt"/>
              </a:rPr>
              <a:t>Sperm entre into egg to produce morphogenesis. Egg </a:t>
            </a:r>
            <a:r>
              <a:rPr lang="en-US" sz="2000" b="0" i="0" u="none" strike="noStrike" baseline="0" dirty="0" err="1">
                <a:solidFill>
                  <a:srgbClr val="000000"/>
                </a:solidFill>
                <a:latin typeface="+mj-lt"/>
              </a:rPr>
              <a:t>nucleous</a:t>
            </a:r>
            <a:r>
              <a:rPr lang="en-US" sz="2000" b="0" i="0" u="none" strike="noStrike" baseline="0" dirty="0">
                <a:solidFill>
                  <a:srgbClr val="000000"/>
                </a:solidFill>
                <a:latin typeface="+mj-lt"/>
              </a:rPr>
              <a:t> divides meiotically into </a:t>
            </a:r>
            <a:r>
              <a:rPr lang="en-US" sz="2000" b="1" i="0" u="none" strike="noStrike" baseline="0" dirty="0">
                <a:solidFill>
                  <a:srgbClr val="000000"/>
                </a:solidFill>
                <a:latin typeface="+mj-lt"/>
              </a:rPr>
              <a:t>female gamete nucleus </a:t>
            </a:r>
            <a:r>
              <a:rPr lang="en-US" sz="2000" b="0" i="0" u="none" strike="noStrike" baseline="0" dirty="0">
                <a:solidFill>
                  <a:srgbClr val="000000"/>
                </a:solidFill>
                <a:latin typeface="+mj-lt"/>
              </a:rPr>
              <a:t>and </a:t>
            </a:r>
            <a:r>
              <a:rPr lang="en-US" sz="2000" b="1" i="0" u="none" strike="noStrike" baseline="0" dirty="0">
                <a:solidFill>
                  <a:srgbClr val="000000"/>
                </a:solidFill>
                <a:latin typeface="+mj-lt"/>
              </a:rPr>
              <a:t>polar body</a:t>
            </a:r>
            <a:r>
              <a:rPr lang="en-US" sz="2000" b="0" i="0" u="none" strike="noStrike" baseline="0" dirty="0">
                <a:solidFill>
                  <a:srgbClr val="000000"/>
                </a:solidFill>
                <a:latin typeface="+mj-lt"/>
              </a:rPr>
              <a:t>. Then the fertilization occurs by the fusion of male and female gamete nuclei.</a:t>
            </a:r>
            <a:endParaRPr lang="en-IN" sz="2000" dirty="0">
              <a:latin typeface="+mj-lt"/>
            </a:endParaRPr>
          </a:p>
        </p:txBody>
      </p:sp>
    </p:spTree>
    <p:extLst>
      <p:ext uri="{BB962C8B-B14F-4D97-AF65-F5344CB8AC3E}">
        <p14:creationId xmlns:p14="http://schemas.microsoft.com/office/powerpoint/2010/main" val="2470082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26A27-7DC4-89D3-FEFD-5ED162EBE740}"/>
              </a:ext>
            </a:extLst>
          </p:cNvPr>
          <p:cNvSpPr>
            <a:spLocks noGrp="1"/>
          </p:cNvSpPr>
          <p:nvPr>
            <p:ph type="title"/>
          </p:nvPr>
        </p:nvSpPr>
        <p:spPr/>
        <p:txBody>
          <a:bodyPr/>
          <a:lstStyle/>
          <a:p>
            <a:r>
              <a:rPr lang="en-IN" sz="1800" b="1" i="0" u="none" strike="noStrike" baseline="0" dirty="0">
                <a:solidFill>
                  <a:srgbClr val="000000"/>
                </a:solidFill>
                <a:latin typeface="Arial" panose="020B0604020202020204" pitchFamily="34" charset="0"/>
              </a:rPr>
              <a:t>TYPES OF REPRODUCTION </a:t>
            </a:r>
            <a:endParaRPr lang="en-IN" dirty="0"/>
          </a:p>
        </p:txBody>
      </p:sp>
      <p:sp>
        <p:nvSpPr>
          <p:cNvPr id="3" name="Content Placeholder 2">
            <a:extLst>
              <a:ext uri="{FF2B5EF4-FFF2-40B4-BE49-F238E27FC236}">
                <a16:creationId xmlns:a16="http://schemas.microsoft.com/office/drawing/2014/main" id="{172250DE-5772-6245-A7ED-E52897A8EC16}"/>
              </a:ext>
            </a:extLst>
          </p:cNvPr>
          <p:cNvSpPr>
            <a:spLocks noGrp="1"/>
          </p:cNvSpPr>
          <p:nvPr>
            <p:ph idx="1"/>
          </p:nvPr>
        </p:nvSpPr>
        <p:spPr/>
        <p:txBody>
          <a:bodyPr>
            <a:normAutofit fontScale="92500" lnSpcReduction="10000"/>
          </a:bodyPr>
          <a:lstStyle/>
          <a:p>
            <a:r>
              <a:rPr lang="en-IN" sz="1800" b="1" i="0" u="none" strike="noStrike" baseline="0" dirty="0">
                <a:solidFill>
                  <a:srgbClr val="000000"/>
                </a:solidFill>
                <a:latin typeface="+mj-lt"/>
              </a:rPr>
              <a:t>1. OVIPARITY </a:t>
            </a:r>
            <a:endParaRPr lang="en-IN" sz="1800" b="0" i="0" u="none" strike="noStrike" baseline="0" dirty="0">
              <a:solidFill>
                <a:srgbClr val="000000"/>
              </a:solidFill>
              <a:latin typeface="+mj-lt"/>
            </a:endParaRPr>
          </a:p>
          <a:p>
            <a:pPr marL="0" indent="0">
              <a:buNone/>
            </a:pPr>
            <a:r>
              <a:rPr lang="en-US" sz="1800" b="0" i="0" u="none" strike="noStrike" baseline="0" dirty="0">
                <a:solidFill>
                  <a:srgbClr val="000000"/>
                </a:solidFill>
                <a:latin typeface="+mj-lt"/>
              </a:rPr>
              <a:t>Majority of female insects are oviparous that is, they lay eggs. Embryonic development occurs after oviposition by utilizing the yolk, e.g. Head louse moths. </a:t>
            </a:r>
          </a:p>
          <a:p>
            <a:r>
              <a:rPr lang="en-IN" sz="1800" b="1" i="0" u="none" strike="noStrike" baseline="0" dirty="0">
                <a:solidFill>
                  <a:srgbClr val="000000"/>
                </a:solidFill>
                <a:latin typeface="+mj-lt"/>
              </a:rPr>
              <a:t>2. VIVIPARITY </a:t>
            </a:r>
            <a:endParaRPr lang="en-IN" sz="1800" b="0" i="0" u="none" strike="noStrike" baseline="0" dirty="0">
              <a:solidFill>
                <a:srgbClr val="000000"/>
              </a:solidFill>
              <a:latin typeface="+mj-lt"/>
            </a:endParaRPr>
          </a:p>
          <a:p>
            <a:pPr marL="0" indent="0">
              <a:buNone/>
            </a:pPr>
            <a:r>
              <a:rPr lang="en-US" sz="1800" b="0" i="0" u="none" strike="noStrike" baseline="0" dirty="0">
                <a:solidFill>
                  <a:srgbClr val="000000"/>
                </a:solidFill>
                <a:latin typeface="+mj-lt"/>
              </a:rPr>
              <a:t>Unlike oviparous, here initiation of egg development take place within the mother. The life cycle is shortened by retention of eggs and even developing young within the mother. Four main types of viviparity are observed in different insect groups. </a:t>
            </a:r>
          </a:p>
          <a:p>
            <a:pPr marL="0" indent="0">
              <a:buNone/>
            </a:pPr>
            <a:r>
              <a:rPr lang="en-IN" sz="1800" b="1" i="0" u="none" strike="noStrike" baseline="0" dirty="0" err="1">
                <a:solidFill>
                  <a:srgbClr val="000000"/>
                </a:solidFill>
                <a:latin typeface="+mj-lt"/>
              </a:rPr>
              <a:t>i</a:t>
            </a:r>
            <a:r>
              <a:rPr lang="en-IN" sz="1800" b="1" i="0" u="none" strike="noStrike" baseline="0" dirty="0">
                <a:solidFill>
                  <a:srgbClr val="000000"/>
                </a:solidFill>
                <a:latin typeface="+mj-lt"/>
              </a:rPr>
              <a:t>. OVOVIVIPARITY </a:t>
            </a:r>
            <a:endParaRPr lang="en-IN" sz="1800" b="0" i="0" u="none" strike="noStrike" baseline="0" dirty="0">
              <a:solidFill>
                <a:srgbClr val="000000"/>
              </a:solidFill>
              <a:latin typeface="+mj-lt"/>
            </a:endParaRPr>
          </a:p>
          <a:p>
            <a:pPr marL="0" indent="0">
              <a:buNone/>
            </a:pPr>
            <a:r>
              <a:rPr lang="en-US" sz="1800" b="0" i="0" u="none" strike="noStrike" baseline="0" dirty="0">
                <a:solidFill>
                  <a:srgbClr val="000000"/>
                </a:solidFill>
                <a:latin typeface="+mj-lt"/>
              </a:rPr>
              <a:t>Fertilized eggs containing yolk are incubated inside the reproductive tract of the female and hatching of egg occur just prior to or soon after oviposition e.g. Thysanoptera, some cockroaches, few beetles, and some flies-(</a:t>
            </a:r>
            <a:r>
              <a:rPr lang="en-US" sz="1800" b="0" i="0" u="none" strike="noStrike" baseline="0" dirty="0" err="1">
                <a:solidFill>
                  <a:srgbClr val="000000"/>
                </a:solidFill>
                <a:latin typeface="+mj-lt"/>
              </a:rPr>
              <a:t>fleshfly</a:t>
            </a:r>
            <a:r>
              <a:rPr lang="en-US" sz="1800" b="0" i="0" u="none" strike="noStrike" baseline="0" dirty="0">
                <a:solidFill>
                  <a:srgbClr val="000000"/>
                </a:solidFill>
                <a:latin typeface="+mj-lt"/>
              </a:rPr>
              <a:t>). Fecundity of this group is low. </a:t>
            </a:r>
            <a:endParaRPr lang="en-IN" dirty="0">
              <a:latin typeface="+mj-lt"/>
            </a:endParaRPr>
          </a:p>
        </p:txBody>
      </p:sp>
    </p:spTree>
    <p:extLst>
      <p:ext uri="{BB962C8B-B14F-4D97-AF65-F5344CB8AC3E}">
        <p14:creationId xmlns:p14="http://schemas.microsoft.com/office/powerpoint/2010/main" val="1528637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CD2FA-0EFB-030C-A98D-E3BE62B8A1CE}"/>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4E9C34F5-3811-BE99-0592-E2ACF5EB21FE}"/>
              </a:ext>
            </a:extLst>
          </p:cNvPr>
          <p:cNvSpPr>
            <a:spLocks noGrp="1"/>
          </p:cNvSpPr>
          <p:nvPr>
            <p:ph idx="1"/>
          </p:nvPr>
        </p:nvSpPr>
        <p:spPr/>
        <p:txBody>
          <a:bodyPr>
            <a:normAutofit fontScale="92500" lnSpcReduction="10000"/>
          </a:bodyPr>
          <a:lstStyle/>
          <a:p>
            <a:r>
              <a:rPr lang="en-IN" sz="1800" b="1" i="0" u="none" strike="noStrike" baseline="0" dirty="0">
                <a:solidFill>
                  <a:srgbClr val="000000"/>
                </a:solidFill>
                <a:latin typeface="+mj-lt"/>
              </a:rPr>
              <a:t>ii. PESEUDOPLACENTAL VIVIPARITY </a:t>
            </a:r>
            <a:endParaRPr lang="en-IN" sz="1800" dirty="0">
              <a:solidFill>
                <a:srgbClr val="000000"/>
              </a:solidFill>
              <a:latin typeface="+mj-lt"/>
            </a:endParaRPr>
          </a:p>
          <a:p>
            <a:pPr marL="0" indent="0">
              <a:buNone/>
            </a:pPr>
            <a:r>
              <a:rPr lang="en-US" sz="1800" dirty="0">
                <a:solidFill>
                  <a:srgbClr val="000000"/>
                </a:solidFill>
                <a:latin typeface="+mj-lt"/>
              </a:rPr>
              <a:t>A</a:t>
            </a:r>
            <a:r>
              <a:rPr lang="en-US" sz="1800" b="0" i="0" u="none" strike="noStrike" baseline="0" dirty="0">
                <a:solidFill>
                  <a:srgbClr val="000000"/>
                </a:solidFill>
                <a:latin typeface="+mj-lt"/>
              </a:rPr>
              <a:t> yolk-deficient egg develops in the genital tract of the female. The mother provides a special placenta-like tissue, through which nutrients are transferred to developing embryos. There is no oral feeding and larvae are laid upon hatching. e.g. aphids, some earwigs, </a:t>
            </a:r>
            <a:r>
              <a:rPr lang="en-US" sz="1800" b="0" i="0" u="none" strike="noStrike" baseline="0" dirty="0" err="1">
                <a:solidFill>
                  <a:srgbClr val="000000"/>
                </a:solidFill>
                <a:latin typeface="+mj-lt"/>
              </a:rPr>
              <a:t>psocids</a:t>
            </a:r>
            <a:r>
              <a:rPr lang="en-US" sz="1800" b="0" i="0" u="none" strike="noStrike" baseline="0" dirty="0">
                <a:solidFill>
                  <a:srgbClr val="000000"/>
                </a:solidFill>
                <a:latin typeface="+mj-lt"/>
              </a:rPr>
              <a:t> and </a:t>
            </a:r>
            <a:r>
              <a:rPr lang="en-US" sz="1800" b="0" i="0" u="none" strike="noStrike" baseline="0" dirty="0" err="1">
                <a:solidFill>
                  <a:srgbClr val="000000"/>
                </a:solidFill>
                <a:latin typeface="+mj-lt"/>
              </a:rPr>
              <a:t>polytenid</a:t>
            </a:r>
            <a:r>
              <a:rPr lang="en-US" sz="1800" b="0" i="0" u="none" strike="noStrike" baseline="0" dirty="0">
                <a:solidFill>
                  <a:srgbClr val="000000"/>
                </a:solidFill>
                <a:latin typeface="+mj-lt"/>
              </a:rPr>
              <a:t> bugs. </a:t>
            </a:r>
          </a:p>
          <a:p>
            <a:r>
              <a:rPr lang="en-IN" sz="1800" b="1" i="0" u="none" strike="noStrike" baseline="0" dirty="0">
                <a:solidFill>
                  <a:srgbClr val="000000"/>
                </a:solidFill>
                <a:latin typeface="+mj-lt"/>
              </a:rPr>
              <a:t>ii. HAEMOCOELOUS VIVIPARITY </a:t>
            </a:r>
            <a:endParaRPr lang="en-IN" sz="1800" b="0" i="0" u="none" strike="noStrike" baseline="0" dirty="0">
              <a:solidFill>
                <a:srgbClr val="000000"/>
              </a:solidFill>
              <a:latin typeface="+mj-lt"/>
            </a:endParaRPr>
          </a:p>
          <a:p>
            <a:pPr marL="0" indent="0">
              <a:buNone/>
            </a:pPr>
            <a:r>
              <a:rPr lang="en-US" sz="1800" dirty="0">
                <a:solidFill>
                  <a:srgbClr val="000000"/>
                </a:solidFill>
                <a:latin typeface="+mj-lt"/>
              </a:rPr>
              <a:t>E</a:t>
            </a:r>
            <a:r>
              <a:rPr lang="en-US" sz="1800" b="0" i="0" u="none" strike="noStrike" baseline="0" dirty="0">
                <a:solidFill>
                  <a:srgbClr val="000000"/>
                </a:solidFill>
                <a:latin typeface="+mj-lt"/>
              </a:rPr>
              <a:t>mbryos develops free in the female's </a:t>
            </a:r>
            <a:r>
              <a:rPr lang="en-US" sz="1800" b="0" i="0" u="none" strike="noStrike" baseline="0" dirty="0" err="1">
                <a:solidFill>
                  <a:srgbClr val="000000"/>
                </a:solidFill>
                <a:latin typeface="+mj-lt"/>
              </a:rPr>
              <a:t>haemolymph</a:t>
            </a:r>
            <a:r>
              <a:rPr lang="en-US" sz="1800" b="0" i="0" u="none" strike="noStrike" baseline="0" dirty="0">
                <a:solidFill>
                  <a:srgbClr val="000000"/>
                </a:solidFill>
                <a:latin typeface="+mj-lt"/>
              </a:rPr>
              <a:t> with nutrients taken up by osmosis. This form of </a:t>
            </a:r>
            <a:r>
              <a:rPr lang="en-US" sz="1800" b="1" i="0" u="none" strike="noStrike" baseline="0" dirty="0">
                <a:solidFill>
                  <a:srgbClr val="000000"/>
                </a:solidFill>
                <a:latin typeface="+mj-lt"/>
              </a:rPr>
              <a:t>internal parasitism </a:t>
            </a:r>
            <a:r>
              <a:rPr lang="en-US" sz="1800" b="0" i="0" u="none" strike="noStrike" baseline="0" dirty="0">
                <a:solidFill>
                  <a:srgbClr val="000000"/>
                </a:solidFill>
                <a:latin typeface="+mj-lt"/>
              </a:rPr>
              <a:t>occurs only in </a:t>
            </a:r>
            <a:r>
              <a:rPr lang="en-US" sz="1800" b="0" i="0" u="none" strike="noStrike" baseline="0" dirty="0" err="1">
                <a:solidFill>
                  <a:srgbClr val="000000"/>
                </a:solidFill>
                <a:latin typeface="+mj-lt"/>
              </a:rPr>
              <a:t>sterpsiptera</a:t>
            </a:r>
            <a:r>
              <a:rPr lang="en-US" sz="1800" b="0" i="0" u="none" strike="noStrike" baseline="0" dirty="0">
                <a:solidFill>
                  <a:srgbClr val="000000"/>
                </a:solidFill>
                <a:latin typeface="+mj-lt"/>
              </a:rPr>
              <a:t> and some gall midges. </a:t>
            </a:r>
          </a:p>
          <a:p>
            <a:r>
              <a:rPr lang="en-IN" sz="1800" b="1" i="0" u="none" strike="noStrike" baseline="0" dirty="0">
                <a:solidFill>
                  <a:srgbClr val="000000"/>
                </a:solidFill>
                <a:latin typeface="+mj-lt"/>
              </a:rPr>
              <a:t>v. ADENOTROPHIC VIVIPARITY</a:t>
            </a:r>
          </a:p>
          <a:p>
            <a:pPr marL="0" indent="0">
              <a:buNone/>
            </a:pPr>
            <a:r>
              <a:rPr lang="en-US" sz="1800" dirty="0">
                <a:solidFill>
                  <a:srgbClr val="000000"/>
                </a:solidFill>
                <a:latin typeface="+mj-lt"/>
              </a:rPr>
              <a:t>P</a:t>
            </a:r>
            <a:r>
              <a:rPr lang="en-US" sz="1800" b="0" i="0" u="none" strike="noStrike" baseline="0" dirty="0">
                <a:solidFill>
                  <a:srgbClr val="000000"/>
                </a:solidFill>
                <a:latin typeface="+mj-lt"/>
              </a:rPr>
              <a:t>oorly developed larva hatches and feeds orally from accessory (milk) gland secretion within the uterus of the mother's reproductive system. The full grown larva is deposited and </a:t>
            </a:r>
            <a:r>
              <a:rPr lang="en-US" sz="1800" b="1" i="0" u="none" strike="noStrike" baseline="0" dirty="0">
                <a:solidFill>
                  <a:srgbClr val="000000"/>
                </a:solidFill>
                <a:latin typeface="+mj-lt"/>
              </a:rPr>
              <a:t>pupariates </a:t>
            </a:r>
            <a:r>
              <a:rPr lang="en-US" sz="1800" b="0" i="0" u="none" strike="noStrike" baseline="0" dirty="0">
                <a:solidFill>
                  <a:srgbClr val="000000"/>
                </a:solidFill>
                <a:latin typeface="+mj-lt"/>
              </a:rPr>
              <a:t>immediately (</a:t>
            </a:r>
            <a:r>
              <a:rPr lang="en-US" sz="1800" b="0" i="0" u="none" strike="noStrike" baseline="0" dirty="0" err="1">
                <a:solidFill>
                  <a:srgbClr val="000000"/>
                </a:solidFill>
                <a:latin typeface="+mj-lt"/>
              </a:rPr>
              <a:t>eg</a:t>
            </a:r>
            <a:r>
              <a:rPr lang="en-US" sz="1800" b="0" i="0" u="none" strike="noStrike" baseline="0" dirty="0">
                <a:solidFill>
                  <a:srgbClr val="000000"/>
                </a:solidFill>
                <a:latin typeface="+mj-lt"/>
              </a:rPr>
              <a:t>) tsetse flies, louse or wallaby flies, bat flies. </a:t>
            </a:r>
            <a:endParaRPr lang="en-IN" dirty="0">
              <a:latin typeface="+mj-lt"/>
            </a:endParaRPr>
          </a:p>
        </p:txBody>
      </p:sp>
    </p:spTree>
    <p:extLst>
      <p:ext uri="{BB962C8B-B14F-4D97-AF65-F5344CB8AC3E}">
        <p14:creationId xmlns:p14="http://schemas.microsoft.com/office/powerpoint/2010/main" val="1356027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33F60-B6A7-FF94-10DF-50C3C16094A8}"/>
              </a:ext>
            </a:extLst>
          </p:cNvPr>
          <p:cNvSpPr>
            <a:spLocks noGrp="1"/>
          </p:cNvSpPr>
          <p:nvPr>
            <p:ph idx="4294967295"/>
          </p:nvPr>
        </p:nvSpPr>
        <p:spPr>
          <a:xfrm>
            <a:off x="905068" y="970385"/>
            <a:ext cx="10431626" cy="4904954"/>
          </a:xfrm>
        </p:spPr>
        <p:txBody>
          <a:bodyPr>
            <a:normAutofit/>
          </a:bodyPr>
          <a:lstStyle/>
          <a:p>
            <a:r>
              <a:rPr lang="en-IN" sz="1800" b="1" i="0" u="none" strike="noStrike" baseline="0" dirty="0">
                <a:solidFill>
                  <a:srgbClr val="000000"/>
                </a:solidFill>
                <a:latin typeface="+mj-lt"/>
              </a:rPr>
              <a:t>3. PARTHENOGENESIS </a:t>
            </a:r>
            <a:endParaRPr lang="en-IN" sz="1800" b="0" i="0" u="none" strike="noStrike" baseline="0" dirty="0">
              <a:solidFill>
                <a:srgbClr val="000000"/>
              </a:solidFill>
              <a:latin typeface="+mj-lt"/>
            </a:endParaRPr>
          </a:p>
          <a:p>
            <a:pPr marL="0" indent="0">
              <a:buNone/>
            </a:pPr>
            <a:r>
              <a:rPr lang="en-US" sz="1800" b="0" i="0" u="none" strike="noStrike" baseline="0" dirty="0">
                <a:solidFill>
                  <a:srgbClr val="000000"/>
                </a:solidFill>
                <a:latin typeface="+mj-lt"/>
              </a:rPr>
              <a:t>Reproduction without fertilization is called parthenogenesis.</a:t>
            </a:r>
          </a:p>
          <a:p>
            <a:pPr algn="just"/>
            <a:r>
              <a:rPr lang="en-IN" sz="1800" b="1" i="0" u="none" strike="noStrike" baseline="0" dirty="0">
                <a:solidFill>
                  <a:srgbClr val="000000"/>
                </a:solidFill>
                <a:latin typeface="+mj-lt"/>
              </a:rPr>
              <a:t>4.POLYEMBRYONY </a:t>
            </a:r>
            <a:endParaRPr lang="en-IN" sz="1800" b="0" i="0" u="none" strike="noStrike" baseline="0" dirty="0">
              <a:solidFill>
                <a:srgbClr val="000000"/>
              </a:solidFill>
              <a:latin typeface="+mj-lt"/>
            </a:endParaRPr>
          </a:p>
          <a:p>
            <a:pPr algn="just"/>
            <a:r>
              <a:rPr lang="en-US" sz="1800" b="0" i="0" u="none" strike="noStrike" baseline="0" dirty="0">
                <a:solidFill>
                  <a:srgbClr val="000000"/>
                </a:solidFill>
                <a:latin typeface="+mj-lt"/>
              </a:rPr>
              <a:t>This form of asexual reproduction involves the production of two or more embryos from one egg by subdivision. Mostly observed in parasitic insects (e.g. </a:t>
            </a:r>
            <a:r>
              <a:rPr lang="en-US" sz="1800" b="0" i="0" u="none" strike="noStrike" baseline="0" dirty="0" err="1">
                <a:solidFill>
                  <a:srgbClr val="000000"/>
                </a:solidFill>
                <a:latin typeface="+mj-lt"/>
              </a:rPr>
              <a:t>platygaster</a:t>
            </a:r>
            <a:r>
              <a:rPr lang="en-US" sz="1800" b="0" i="0" u="none" strike="noStrike" baseline="0" dirty="0">
                <a:solidFill>
                  <a:srgbClr val="000000"/>
                </a:solidFill>
                <a:latin typeface="+mj-lt"/>
              </a:rPr>
              <a:t>). Nutrition for a large number of developing embryo cannot be supplied by the original egg and is acquired from the host's </a:t>
            </a:r>
            <a:r>
              <a:rPr lang="en-US" sz="1800" b="0" i="0" u="none" strike="noStrike" baseline="0" dirty="0" err="1">
                <a:solidFill>
                  <a:srgbClr val="000000"/>
                </a:solidFill>
                <a:latin typeface="+mj-lt"/>
              </a:rPr>
              <a:t>haemolmph</a:t>
            </a:r>
            <a:r>
              <a:rPr lang="en-US" sz="1800" b="0" i="0" u="none" strike="noStrike" baseline="0" dirty="0">
                <a:solidFill>
                  <a:srgbClr val="000000"/>
                </a:solidFill>
                <a:latin typeface="+mj-lt"/>
              </a:rPr>
              <a:t> through a specialized enveloping membrane called </a:t>
            </a:r>
            <a:r>
              <a:rPr lang="en-US" sz="1800" b="1" i="0" u="none" strike="noStrike" baseline="0" dirty="0" err="1">
                <a:solidFill>
                  <a:srgbClr val="000000"/>
                </a:solidFill>
                <a:latin typeface="+mj-lt"/>
              </a:rPr>
              <a:t>trophamnion</a:t>
            </a:r>
            <a:r>
              <a:rPr lang="en-US" sz="1800" b="0" i="0" u="none" strike="noStrike" baseline="0" dirty="0">
                <a:solidFill>
                  <a:srgbClr val="000000"/>
                </a:solidFill>
                <a:latin typeface="+mj-lt"/>
              </a:rPr>
              <a:t>. </a:t>
            </a:r>
          </a:p>
          <a:p>
            <a:pPr algn="just"/>
            <a:r>
              <a:rPr lang="en-IN" sz="1800" b="1" i="0" u="none" strike="noStrike" baseline="0" dirty="0">
                <a:solidFill>
                  <a:srgbClr val="000000"/>
                </a:solidFill>
                <a:latin typeface="+mj-lt"/>
              </a:rPr>
              <a:t>5.PAEDOGENESIS </a:t>
            </a:r>
            <a:endParaRPr lang="en-IN" sz="1800" b="0" i="0" u="none" strike="noStrike" baseline="0" dirty="0">
              <a:solidFill>
                <a:srgbClr val="000000"/>
              </a:solidFill>
              <a:latin typeface="+mj-lt"/>
            </a:endParaRPr>
          </a:p>
          <a:p>
            <a:pPr algn="just"/>
            <a:r>
              <a:rPr lang="en-US" sz="1800" b="0" i="0" u="none" strike="noStrike" baseline="0" dirty="0">
                <a:solidFill>
                  <a:srgbClr val="000000"/>
                </a:solidFill>
                <a:latin typeface="+mj-lt"/>
              </a:rPr>
              <a:t>Some insect cut short their life cycles by loss of adult and pupal stages. In this precocious stage gonads develop and give birth to young one by parthenogenesis. </a:t>
            </a:r>
          </a:p>
          <a:p>
            <a:pPr algn="just"/>
            <a:r>
              <a:rPr lang="en-IN" sz="1800" b="0" i="0" u="none" strike="noStrike" baseline="0" dirty="0" err="1">
                <a:solidFill>
                  <a:srgbClr val="000000"/>
                </a:solidFill>
                <a:latin typeface="+mj-lt"/>
              </a:rPr>
              <a:t>i</a:t>
            </a:r>
            <a:r>
              <a:rPr lang="en-IN" sz="1800" b="0" i="0" u="none" strike="noStrike" baseline="0" dirty="0">
                <a:solidFill>
                  <a:srgbClr val="000000"/>
                </a:solidFill>
                <a:latin typeface="+mj-lt"/>
              </a:rPr>
              <a:t>. Larval paedogenesis - e.g. gall midges </a:t>
            </a:r>
          </a:p>
          <a:p>
            <a:pPr algn="just"/>
            <a:r>
              <a:rPr lang="nn-NO" sz="1800" b="0" i="0" u="none" strike="noStrike" baseline="0" dirty="0">
                <a:solidFill>
                  <a:srgbClr val="000000"/>
                </a:solidFill>
                <a:latin typeface="+mj-lt"/>
              </a:rPr>
              <a:t>ii. Pupal paedogenesis - eg </a:t>
            </a:r>
            <a:r>
              <a:rPr lang="nn-NO" sz="1800" b="0" i="1" u="none" strike="noStrike" baseline="0" dirty="0">
                <a:solidFill>
                  <a:srgbClr val="000000"/>
                </a:solidFill>
                <a:latin typeface="+mj-lt"/>
              </a:rPr>
              <a:t>Miaster </a:t>
            </a:r>
            <a:r>
              <a:rPr lang="nn-NO" sz="1800" b="0" i="0" u="none" strike="noStrike" baseline="0" dirty="0">
                <a:solidFill>
                  <a:srgbClr val="000000"/>
                </a:solidFill>
                <a:latin typeface="+mj-lt"/>
              </a:rPr>
              <a:t>sp</a:t>
            </a:r>
            <a:r>
              <a:rPr lang="nn-NO" sz="1800" b="1" i="0" u="none" strike="noStrike" baseline="0" dirty="0">
                <a:solidFill>
                  <a:srgbClr val="000000"/>
                </a:solidFill>
                <a:latin typeface="+mj-lt"/>
              </a:rPr>
              <a:t>. </a:t>
            </a:r>
            <a:endParaRPr lang="en-IN" sz="1800" dirty="0">
              <a:latin typeface="+mj-lt"/>
            </a:endParaRPr>
          </a:p>
          <a:p>
            <a:pPr marL="0" indent="0">
              <a:buNone/>
            </a:pPr>
            <a:r>
              <a:rPr lang="en-US" sz="1800" b="0" i="0" u="none" strike="noStrike" baseline="0" dirty="0">
                <a:solidFill>
                  <a:srgbClr val="000000"/>
                </a:solidFill>
                <a:latin typeface="+mj-lt"/>
              </a:rPr>
              <a:t> </a:t>
            </a:r>
          </a:p>
        </p:txBody>
      </p:sp>
    </p:spTree>
    <p:extLst>
      <p:ext uri="{BB962C8B-B14F-4D97-AF65-F5344CB8AC3E}">
        <p14:creationId xmlns:p14="http://schemas.microsoft.com/office/powerpoint/2010/main" val="341466715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396</TotalTime>
  <Words>1992</Words>
  <Application>Microsoft Office PowerPoint</Application>
  <PresentationFormat>Widescreen</PresentationFormat>
  <Paragraphs>105</Paragraphs>
  <Slides>35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Garamond</vt:lpstr>
      <vt:lpstr>Organic</vt:lpstr>
      <vt:lpstr>Unit 3</vt:lpstr>
      <vt:lpstr>Structure and function of respiratory system of insects</vt:lpstr>
      <vt:lpstr>Continue…</vt:lpstr>
      <vt:lpstr>ORGANS OF RESPIRATION</vt:lpstr>
      <vt:lpstr>Classification on respiratory system based on location and functional spiracles</vt:lpstr>
      <vt:lpstr>PowerPoint Presentation</vt:lpstr>
      <vt:lpstr>PowerPoint Presentation</vt:lpstr>
      <vt:lpstr>PowerPoint Presentation</vt:lpstr>
      <vt:lpstr>PowerPoint Presentation</vt:lpstr>
      <vt:lpstr>Mechanism of respiration</vt:lpstr>
      <vt:lpstr>PowerPoint Presentation</vt:lpstr>
      <vt:lpstr>Types of respiration</vt:lpstr>
      <vt:lpstr>PowerPoint Presentation</vt:lpstr>
      <vt:lpstr>Secretory (Endocrine system)</vt:lpstr>
      <vt:lpstr>Endocrine Organ</vt:lpstr>
      <vt:lpstr>Continue…</vt:lpstr>
      <vt:lpstr>PowerPoint Presentation</vt:lpstr>
      <vt:lpstr>Neurosecretory cells </vt:lpstr>
      <vt:lpstr>PowerPoint Presentation</vt:lpstr>
      <vt:lpstr>Prothoracic gland</vt:lpstr>
      <vt:lpstr>Corpora Cardiaca </vt:lpstr>
      <vt:lpstr>Corpora allata</vt:lpstr>
      <vt:lpstr>PowerPoint Presentation</vt:lpstr>
      <vt:lpstr>Reproductive system in insects</vt:lpstr>
      <vt:lpstr>PowerPoint Presentation</vt:lpstr>
      <vt:lpstr>PowerPoint Presentation</vt:lpstr>
      <vt:lpstr>PowerPoint Presentation</vt:lpstr>
      <vt:lpstr>PowerPoint Presentation</vt:lpstr>
      <vt:lpstr>MALE REPRODUCTIVE SYSTEM</vt:lpstr>
      <vt:lpstr>PowerPoint Presentation</vt:lpstr>
      <vt:lpstr>  PHYSIOLOGY OF REPRODUCTION</vt:lpstr>
      <vt:lpstr>Continue….</vt:lpstr>
      <vt:lpstr>TYPES OF REPRODUCTION </vt:lpstr>
      <vt:lpstr>Continue….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anjalipraneshdubey@outlook.com</dc:creator>
  <cp:lastModifiedBy>anjalipraneshdubey@outlook.com</cp:lastModifiedBy>
  <cp:revision>31</cp:revision>
  <dcterms:created xsi:type="dcterms:W3CDTF">2024-10-08T04:46:41Z</dcterms:created>
  <dcterms:modified xsi:type="dcterms:W3CDTF">2025-10-09T07:59:55Z</dcterms:modified>
</cp:coreProperties>
</file>