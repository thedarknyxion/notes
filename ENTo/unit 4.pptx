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4" r:id="rId7"/>
    <p:sldId id="262" r:id="rId8"/>
    <p:sldId id="263" r:id="rId9"/>
    <p:sldId id="261" r:id="rId10"/>
    <p:sldId id="265" r:id="rId11"/>
    <p:sldId id="269" r:id="rId12"/>
    <p:sldId id="266" r:id="rId13"/>
    <p:sldId id="267" r:id="rId14"/>
    <p:sldId id="268" r:id="rId15"/>
    <p:sldId id="270" r:id="rId16"/>
    <p:sldId id="271" r:id="rId17"/>
    <p:sldId id="273" r:id="rId18"/>
    <p:sldId id="272"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07F355-9F43-44A2-AE83-756737964D2D}" type="datetimeFigureOut">
              <a:rPr lang="en-IN" smtClean="0"/>
              <a:t>16-10-2025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2C2A8AC2-260E-456E-ADE6-B89EBED58CAF}"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6646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07F355-9F43-44A2-AE83-756737964D2D}"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2A8AC2-260E-456E-ADE6-B89EBED58CAF}"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4550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07F355-9F43-44A2-AE83-756737964D2D}"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2A8AC2-260E-456E-ADE6-B89EBED58CAF}"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8556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07F355-9F43-44A2-AE83-756737964D2D}"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2A8AC2-260E-456E-ADE6-B89EBED58CAF}"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952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07F355-9F43-44A2-AE83-756737964D2D}" type="datetimeFigureOut">
              <a:rPr lang="en-IN" smtClean="0"/>
              <a:t>16-10-2025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2A8AC2-260E-456E-ADE6-B89EBED58CAF}"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190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07F355-9F43-44A2-AE83-756737964D2D}" type="datetimeFigureOut">
              <a:rPr lang="en-IN" smtClean="0"/>
              <a:t>16-10-2025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2A8AC2-260E-456E-ADE6-B89EBED58CAF}"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9742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7F355-9F43-44A2-AE83-756737964D2D}" type="datetimeFigureOut">
              <a:rPr lang="en-IN" smtClean="0"/>
              <a:t>16-10-2025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2A8AC2-260E-456E-ADE6-B89EBED58CAF}" type="slidenum">
              <a:rPr lang="en-IN" smtClean="0"/>
              <a:t>‹#›</a:t>
            </a:fld>
            <a:endParaRPr lang="en-IN"/>
          </a:p>
        </p:txBody>
      </p:sp>
    </p:spTree>
    <p:extLst>
      <p:ext uri="{BB962C8B-B14F-4D97-AF65-F5344CB8AC3E}">
        <p14:creationId xmlns:p14="http://schemas.microsoft.com/office/powerpoint/2010/main" val="688661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07F355-9F43-44A2-AE83-756737964D2D}" type="datetimeFigureOut">
              <a:rPr lang="en-IN" smtClean="0"/>
              <a:t>16-10-2025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2A8AC2-260E-456E-ADE6-B89EBED58CAF}"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6283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E07F355-9F43-44A2-AE83-756737964D2D}" type="datetimeFigureOut">
              <a:rPr lang="en-IN" smtClean="0"/>
              <a:t>16-10-2025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2C2A8AC2-260E-456E-ADE6-B89EBED58CAF}"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3457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07F355-9F43-44A2-AE83-756737964D2D}"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2A8AC2-260E-456E-ADE6-B89EBED58CAF}"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7712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07F355-9F43-44A2-AE83-756737964D2D}" type="datetimeFigureOut">
              <a:rPr lang="en-IN" smtClean="0"/>
              <a:t>16-10-2025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2A8AC2-260E-456E-ADE6-B89EBED58CAF}"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9876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E07F355-9F43-44A2-AE83-756737964D2D}" type="datetimeFigureOut">
              <a:rPr lang="en-IN" smtClean="0"/>
              <a:t>16-10-2025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C2A8AC2-260E-456E-ADE6-B89EBED58CAF}"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0573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E4BC0-5589-7438-87CD-1932212CF8EB}"/>
              </a:ext>
            </a:extLst>
          </p:cNvPr>
          <p:cNvSpPr>
            <a:spLocks noGrp="1"/>
          </p:cNvSpPr>
          <p:nvPr>
            <p:ph type="ctrTitle"/>
          </p:nvPr>
        </p:nvSpPr>
        <p:spPr/>
        <p:txBody>
          <a:bodyPr/>
          <a:lstStyle/>
          <a:p>
            <a:r>
              <a:rPr lang="en-IN" dirty="0"/>
              <a:t>Unit 4</a:t>
            </a:r>
          </a:p>
        </p:txBody>
      </p:sp>
      <p:sp>
        <p:nvSpPr>
          <p:cNvPr id="3" name="Subtitle 2">
            <a:extLst>
              <a:ext uri="{FF2B5EF4-FFF2-40B4-BE49-F238E27FC236}">
                <a16:creationId xmlns:a16="http://schemas.microsoft.com/office/drawing/2014/main" id="{296131AB-8B09-9E39-6985-39328D388800}"/>
              </a:ext>
            </a:extLst>
          </p:cNvPr>
          <p:cNvSpPr>
            <a:spLocks noGrp="1"/>
          </p:cNvSpPr>
          <p:nvPr>
            <p:ph type="subTitle" idx="1"/>
          </p:nvPr>
        </p:nvSpPr>
        <p:spPr/>
        <p:txBody>
          <a:bodyPr/>
          <a:lstStyle/>
          <a:p>
            <a:r>
              <a:rPr lang="en-IN" dirty="0"/>
              <a:t>Medi caps university</a:t>
            </a:r>
          </a:p>
        </p:txBody>
      </p:sp>
    </p:spTree>
    <p:extLst>
      <p:ext uri="{BB962C8B-B14F-4D97-AF65-F5344CB8AC3E}">
        <p14:creationId xmlns:p14="http://schemas.microsoft.com/office/powerpoint/2010/main" val="141915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7E8D-75EE-2AFF-6EE3-2510C5182DCA}"/>
              </a:ext>
            </a:extLst>
          </p:cNvPr>
          <p:cNvSpPr>
            <a:spLocks noGrp="1"/>
          </p:cNvSpPr>
          <p:nvPr>
            <p:ph type="title"/>
          </p:nvPr>
        </p:nvSpPr>
        <p:spPr/>
        <p:txBody>
          <a:bodyPr/>
          <a:lstStyle/>
          <a:p>
            <a:r>
              <a:rPr lang="en-IN" dirty="0" err="1"/>
              <a:t>dEATH</a:t>
            </a:r>
            <a:endParaRPr lang="en-IN" dirty="0"/>
          </a:p>
        </p:txBody>
      </p:sp>
      <p:sp>
        <p:nvSpPr>
          <p:cNvPr id="3" name="Content Placeholder 2">
            <a:extLst>
              <a:ext uri="{FF2B5EF4-FFF2-40B4-BE49-F238E27FC236}">
                <a16:creationId xmlns:a16="http://schemas.microsoft.com/office/drawing/2014/main" id="{24D6C6B4-E356-05ED-8550-DA2BB51EFB93}"/>
              </a:ext>
            </a:extLst>
          </p:cNvPr>
          <p:cNvSpPr>
            <a:spLocks noGrp="1"/>
          </p:cNvSpPr>
          <p:nvPr>
            <p:ph idx="1"/>
          </p:nvPr>
        </p:nvSpPr>
        <p:spPr/>
        <p:txBody>
          <a:bodyPr/>
          <a:lstStyle/>
          <a:p>
            <a:r>
              <a:rPr lang="en-US" b="0" i="0" dirty="0">
                <a:solidFill>
                  <a:srgbClr val="303153"/>
                </a:solidFill>
                <a:effectLst/>
                <a:latin typeface="averta"/>
              </a:rPr>
              <a:t>Death is not an event it is a process</a:t>
            </a:r>
          </a:p>
          <a:p>
            <a:r>
              <a:rPr lang="en-US" b="0" i="0" dirty="0">
                <a:solidFill>
                  <a:srgbClr val="303153"/>
                </a:solidFill>
                <a:effectLst/>
                <a:latin typeface="averta"/>
              </a:rPr>
              <a:t>The study of death and dying from a variety of reasons  including medical, physical, psychological, spiritual, ethical, and more, is known as Thanatology.</a:t>
            </a:r>
          </a:p>
          <a:p>
            <a:r>
              <a:rPr lang="en-US" b="0" i="0" dirty="0">
                <a:solidFill>
                  <a:srgbClr val="303153"/>
                </a:solidFill>
                <a:effectLst/>
                <a:latin typeface="averta"/>
              </a:rPr>
              <a:t>Taphonomy is the study of post-mortem changes.</a:t>
            </a:r>
            <a:endParaRPr lang="en-IN" dirty="0"/>
          </a:p>
        </p:txBody>
      </p:sp>
    </p:spTree>
    <p:extLst>
      <p:ext uri="{BB962C8B-B14F-4D97-AF65-F5344CB8AC3E}">
        <p14:creationId xmlns:p14="http://schemas.microsoft.com/office/powerpoint/2010/main" val="6009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4BA7A-B947-8997-5174-DAAEC3C9FF4E}"/>
              </a:ext>
            </a:extLst>
          </p:cNvPr>
          <p:cNvSpPr>
            <a:spLocks noGrp="1"/>
          </p:cNvSpPr>
          <p:nvPr>
            <p:ph type="title"/>
          </p:nvPr>
        </p:nvSpPr>
        <p:spPr/>
        <p:txBody>
          <a:bodyPr/>
          <a:lstStyle/>
          <a:p>
            <a:r>
              <a:rPr lang="en-IN" b="1" i="0" u="none" strike="noStrike" dirty="0">
                <a:solidFill>
                  <a:srgbClr val="303153"/>
                </a:solidFill>
                <a:effectLst/>
                <a:latin typeface="averta"/>
              </a:rPr>
              <a:t>Types of Death</a:t>
            </a:r>
            <a:br>
              <a:rPr lang="en-IN" b="1" i="0" u="none" strike="noStrike" dirty="0">
                <a:solidFill>
                  <a:srgbClr val="303153"/>
                </a:solidFill>
                <a:effectLst/>
                <a:latin typeface="averta"/>
              </a:rPr>
            </a:br>
            <a:endParaRPr lang="en-IN" dirty="0"/>
          </a:p>
        </p:txBody>
      </p:sp>
      <p:sp>
        <p:nvSpPr>
          <p:cNvPr id="3" name="Content Placeholder 2">
            <a:extLst>
              <a:ext uri="{FF2B5EF4-FFF2-40B4-BE49-F238E27FC236}">
                <a16:creationId xmlns:a16="http://schemas.microsoft.com/office/drawing/2014/main" id="{EFDE925E-EF22-17A0-F442-1D8F0C24F8D3}"/>
              </a:ext>
            </a:extLst>
          </p:cNvPr>
          <p:cNvSpPr>
            <a:spLocks noGrp="1"/>
          </p:cNvSpPr>
          <p:nvPr>
            <p:ph idx="1"/>
          </p:nvPr>
        </p:nvSpPr>
        <p:spPr/>
        <p:txBody>
          <a:bodyPr>
            <a:normAutofit lnSpcReduction="10000"/>
          </a:bodyPr>
          <a:lstStyle/>
          <a:p>
            <a:pPr marL="0" indent="0" algn="l">
              <a:buNone/>
            </a:pPr>
            <a:r>
              <a:rPr lang="en-US" b="1" i="0" u="none" strike="noStrike" dirty="0">
                <a:solidFill>
                  <a:srgbClr val="303153"/>
                </a:solidFill>
                <a:effectLst/>
                <a:latin typeface="averta"/>
              </a:rPr>
              <a:t>1. Somatic death or Clinical death</a:t>
            </a:r>
          </a:p>
          <a:p>
            <a:pPr marL="0" indent="0">
              <a:buNone/>
            </a:pPr>
            <a:r>
              <a:rPr lang="en-US" b="0" u="none" strike="noStrike" dirty="0">
                <a:effectLst/>
                <a:latin typeface="averta"/>
              </a:rPr>
              <a:t>In this there is complete and irreversible stoppage of any of Bishop’s tripod of life components which includes</a:t>
            </a:r>
          </a:p>
          <a:p>
            <a:pPr>
              <a:buFont typeface="Arial" panose="020B0604020202020204" pitchFamily="34" charset="0"/>
              <a:buChar char="•"/>
            </a:pPr>
            <a:r>
              <a:rPr lang="en-US" u="none" strike="noStrike" dirty="0">
                <a:effectLst/>
                <a:latin typeface="averta"/>
              </a:rPr>
              <a:t>Heart – circulation</a:t>
            </a:r>
          </a:p>
          <a:p>
            <a:pPr>
              <a:buFont typeface="Arial" panose="020B0604020202020204" pitchFamily="34" charset="0"/>
              <a:buChar char="•"/>
            </a:pPr>
            <a:r>
              <a:rPr lang="en-US" u="none" strike="noStrike" dirty="0">
                <a:effectLst/>
                <a:latin typeface="averta"/>
              </a:rPr>
              <a:t>Lung – respiration</a:t>
            </a:r>
          </a:p>
          <a:p>
            <a:pPr>
              <a:buFont typeface="Arial" panose="020B0604020202020204" pitchFamily="34" charset="0"/>
              <a:buChar char="•"/>
            </a:pPr>
            <a:r>
              <a:rPr lang="en-US" u="none" strike="noStrike" dirty="0">
                <a:effectLst/>
                <a:latin typeface="averta"/>
              </a:rPr>
              <a:t>Brain function</a:t>
            </a:r>
          </a:p>
          <a:p>
            <a:pPr marL="0" indent="0">
              <a:buNone/>
            </a:pPr>
            <a:r>
              <a:rPr lang="en-US" b="0" u="none" strike="noStrike" dirty="0">
                <a:effectLst/>
                <a:latin typeface="averta"/>
              </a:rPr>
              <a:t>Or  there is a loss of any one function and it leads to death or the Doctor declares the individual dead</a:t>
            </a:r>
          </a:p>
          <a:p>
            <a:endParaRPr lang="en-IN" dirty="0"/>
          </a:p>
        </p:txBody>
      </p:sp>
    </p:spTree>
    <p:extLst>
      <p:ext uri="{BB962C8B-B14F-4D97-AF65-F5344CB8AC3E}">
        <p14:creationId xmlns:p14="http://schemas.microsoft.com/office/powerpoint/2010/main" val="200316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BBFC-D677-BA01-379B-24BDB83C16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A49D99-96E9-AE2E-A5A9-F7A9E6A47030}"/>
              </a:ext>
            </a:extLst>
          </p:cNvPr>
          <p:cNvSpPr>
            <a:spLocks noGrp="1"/>
          </p:cNvSpPr>
          <p:nvPr>
            <p:ph idx="1"/>
          </p:nvPr>
        </p:nvSpPr>
        <p:spPr/>
        <p:txBody>
          <a:bodyPr>
            <a:normAutofit fontScale="92500" lnSpcReduction="20000"/>
          </a:bodyPr>
          <a:lstStyle/>
          <a:p>
            <a:pPr marL="0" indent="0">
              <a:buNone/>
            </a:pPr>
            <a:r>
              <a:rPr lang="en-IN" dirty="0"/>
              <a:t>2. </a:t>
            </a:r>
            <a:r>
              <a:rPr lang="en-US" b="1" i="0" u="none" strike="noStrike" dirty="0">
                <a:solidFill>
                  <a:srgbClr val="303153"/>
                </a:solidFill>
                <a:effectLst/>
                <a:latin typeface="averta"/>
              </a:rPr>
              <a:t>Molecular death or Cellular death</a:t>
            </a:r>
          </a:p>
          <a:p>
            <a:pPr marL="0" indent="0">
              <a:buNone/>
            </a:pPr>
            <a:r>
              <a:rPr lang="en-IN" dirty="0"/>
              <a:t>I</a:t>
            </a:r>
            <a:r>
              <a:rPr lang="en-US" b="0" i="0" dirty="0">
                <a:effectLst/>
                <a:latin typeface="averta"/>
              </a:rPr>
              <a:t>t Occurs within  1-2 hours after </a:t>
            </a:r>
            <a:r>
              <a:rPr lang="en-US" b="0" i="0" u="none" strike="noStrike" dirty="0">
                <a:effectLst/>
                <a:latin typeface="averta"/>
              </a:rPr>
              <a:t>somatic</a:t>
            </a:r>
            <a:r>
              <a:rPr lang="en-US" b="0" i="0" dirty="0">
                <a:effectLst/>
                <a:latin typeface="averta"/>
              </a:rPr>
              <a:t> death</a:t>
            </a:r>
          </a:p>
          <a:p>
            <a:pPr marL="0" indent="0">
              <a:buNone/>
            </a:pPr>
            <a:r>
              <a:rPr lang="en-IN" b="1" i="0" u="none" strike="noStrike" dirty="0">
                <a:solidFill>
                  <a:srgbClr val="303153"/>
                </a:solidFill>
                <a:effectLst/>
                <a:latin typeface="averta"/>
              </a:rPr>
              <a:t>Bichat’s mode of death </a:t>
            </a:r>
          </a:p>
          <a:p>
            <a:pPr marL="0" indent="0" algn="l">
              <a:buNone/>
            </a:pPr>
            <a:r>
              <a:rPr lang="en-US" dirty="0">
                <a:latin typeface="averta"/>
              </a:rPr>
              <a:t>I</a:t>
            </a:r>
            <a:r>
              <a:rPr lang="en-US" b="0" i="0" u="none" strike="noStrike" dirty="0">
                <a:effectLst/>
                <a:latin typeface="averta"/>
              </a:rPr>
              <a:t>t Depends on the dysfunction i.e., may be respiratory, circulatory, or brain function.</a:t>
            </a:r>
          </a:p>
          <a:p>
            <a:pPr algn="l">
              <a:buFont typeface="Arial" panose="020B0604020202020204" pitchFamily="34" charset="0"/>
              <a:buChar char="•"/>
            </a:pPr>
            <a:r>
              <a:rPr lang="en-US" b="0" i="0" u="none" strike="noStrike" dirty="0">
                <a:effectLst/>
                <a:latin typeface="averta"/>
              </a:rPr>
              <a:t>Dysfunction of respiration leads to  Asphyxia</a:t>
            </a:r>
          </a:p>
          <a:p>
            <a:pPr algn="l">
              <a:buFont typeface="Arial" panose="020B0604020202020204" pitchFamily="34" charset="0"/>
              <a:buChar char="•"/>
            </a:pPr>
            <a:r>
              <a:rPr lang="en-US" b="0" i="0" u="none" strike="noStrike" dirty="0">
                <a:effectLst/>
                <a:latin typeface="averta"/>
              </a:rPr>
              <a:t>Dysfunction of circulation leads to Syncope</a:t>
            </a:r>
          </a:p>
          <a:p>
            <a:pPr algn="l">
              <a:buFont typeface="Arial" panose="020B0604020202020204" pitchFamily="34" charset="0"/>
              <a:buChar char="•"/>
            </a:pPr>
            <a:r>
              <a:rPr lang="en-US" b="0" i="0" u="none" strike="noStrike" dirty="0">
                <a:effectLst/>
                <a:latin typeface="averta"/>
              </a:rPr>
              <a:t>Dysfunction of brain function leads to Coma</a:t>
            </a:r>
          </a:p>
          <a:p>
            <a:pPr marL="0" indent="0" algn="l">
              <a:buNone/>
            </a:pPr>
            <a:r>
              <a:rPr lang="en-US" b="0" i="0" u="none" strike="noStrike" dirty="0">
                <a:effectLst/>
                <a:latin typeface="averta"/>
              </a:rPr>
              <a:t>Asphyxia, syncope, and coma are examples of Bichat’s mode of death.</a:t>
            </a:r>
          </a:p>
          <a:p>
            <a:pPr marL="0" indent="0">
              <a:buNone/>
            </a:pPr>
            <a:endParaRPr lang="en-IN" dirty="0"/>
          </a:p>
        </p:txBody>
      </p:sp>
    </p:spTree>
    <p:extLst>
      <p:ext uri="{BB962C8B-B14F-4D97-AF65-F5344CB8AC3E}">
        <p14:creationId xmlns:p14="http://schemas.microsoft.com/office/powerpoint/2010/main" val="4192526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73C46-CFA0-F647-3FBA-9259B91C4C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B9DD48-12BD-95FC-9496-0F76BD4F1AF0}"/>
              </a:ext>
            </a:extLst>
          </p:cNvPr>
          <p:cNvSpPr>
            <a:spLocks noGrp="1"/>
          </p:cNvSpPr>
          <p:nvPr>
            <p:ph idx="1"/>
          </p:nvPr>
        </p:nvSpPr>
        <p:spPr>
          <a:xfrm>
            <a:off x="1396476" y="2015732"/>
            <a:ext cx="9603275" cy="3450613"/>
          </a:xfrm>
        </p:spPr>
        <p:txBody>
          <a:bodyPr>
            <a:normAutofit fontScale="92500" lnSpcReduction="20000"/>
          </a:bodyPr>
          <a:lstStyle/>
          <a:p>
            <a:pPr marL="0" indent="0">
              <a:buNone/>
            </a:pPr>
            <a:r>
              <a:rPr lang="en-US" b="1" i="0" u="none" strike="noStrike" dirty="0">
                <a:solidFill>
                  <a:srgbClr val="303153"/>
                </a:solidFill>
                <a:effectLst/>
                <a:latin typeface="averta"/>
              </a:rPr>
              <a:t>Atria mortis or Gateway of death</a:t>
            </a:r>
          </a:p>
          <a:p>
            <a:pPr marL="0" indent="0">
              <a:buNone/>
            </a:pPr>
            <a:r>
              <a:rPr lang="en-US" b="0" i="0" dirty="0">
                <a:effectLst/>
                <a:latin typeface="averta"/>
              </a:rPr>
              <a:t>Stopping of only one component of Bichat’s </a:t>
            </a:r>
            <a:r>
              <a:rPr lang="en-US" b="0" i="0" u="none" strike="noStrike" dirty="0">
                <a:effectLst/>
                <a:latin typeface="averta"/>
              </a:rPr>
              <a:t>tripod</a:t>
            </a:r>
            <a:r>
              <a:rPr lang="en-US" b="0" i="0" dirty="0">
                <a:effectLst/>
                <a:latin typeface="averta"/>
              </a:rPr>
              <a:t> of life (respiration, circulation, or brain function) results in death. It is an example of </a:t>
            </a:r>
            <a:r>
              <a:rPr lang="en-US" b="0" i="0" u="none" strike="noStrike" dirty="0">
                <a:effectLst/>
                <a:latin typeface="averta"/>
              </a:rPr>
              <a:t>somatic</a:t>
            </a:r>
            <a:r>
              <a:rPr lang="en-US" b="0" i="0" dirty="0">
                <a:effectLst/>
                <a:latin typeface="averta"/>
              </a:rPr>
              <a:t> death.</a:t>
            </a:r>
          </a:p>
          <a:p>
            <a:pPr marL="0" indent="0">
              <a:buNone/>
            </a:pPr>
            <a:r>
              <a:rPr lang="en-US" b="1" i="0" u="none" strike="noStrike" dirty="0">
                <a:solidFill>
                  <a:srgbClr val="303153"/>
                </a:solidFill>
                <a:effectLst/>
                <a:latin typeface="averta"/>
              </a:rPr>
              <a:t>Suspended Animation or Apparent death</a:t>
            </a:r>
          </a:p>
          <a:p>
            <a:pPr marL="0" indent="0">
              <a:buNone/>
            </a:pPr>
            <a:r>
              <a:rPr lang="en-US" b="0" i="0" dirty="0">
                <a:effectLst/>
                <a:latin typeface="averta"/>
              </a:rPr>
              <a:t>In this, signs of life are </a:t>
            </a:r>
            <a:r>
              <a:rPr lang="en-US" b="0" i="0" u="none" strike="noStrike" dirty="0">
                <a:effectLst/>
                <a:latin typeface="averta"/>
              </a:rPr>
              <a:t>reduced</a:t>
            </a:r>
            <a:r>
              <a:rPr lang="en-US" b="0" i="0" dirty="0">
                <a:effectLst/>
                <a:latin typeface="averta"/>
              </a:rPr>
              <a:t> to a minimal level and </a:t>
            </a:r>
            <a:r>
              <a:rPr lang="en-US" b="0" i="0" u="none" strike="noStrike" dirty="0">
                <a:effectLst/>
                <a:latin typeface="averta"/>
              </a:rPr>
              <a:t>resuscitation</a:t>
            </a:r>
            <a:r>
              <a:rPr lang="en-US" b="0" i="0" dirty="0">
                <a:effectLst/>
                <a:latin typeface="averta"/>
              </a:rPr>
              <a:t> leads to survival. The causes of suspended </a:t>
            </a:r>
            <a:r>
              <a:rPr lang="en-US" b="0" i="0" u="none" strike="noStrike" dirty="0">
                <a:effectLst/>
                <a:latin typeface="averta"/>
              </a:rPr>
              <a:t>animation</a:t>
            </a:r>
            <a:r>
              <a:rPr lang="en-US" b="0" i="0" dirty="0">
                <a:effectLst/>
                <a:latin typeface="averta"/>
              </a:rPr>
              <a:t> can be Prolonged anesthesia, </a:t>
            </a:r>
            <a:r>
              <a:rPr lang="en-US" b="0" i="0" u="none" strike="noStrike" dirty="0">
                <a:effectLst/>
                <a:latin typeface="averta"/>
              </a:rPr>
              <a:t>Newborn</a:t>
            </a:r>
            <a:r>
              <a:rPr lang="en-US" b="0" i="0" dirty="0">
                <a:effectLst/>
                <a:latin typeface="averta"/>
              </a:rPr>
              <a:t> (most common), </a:t>
            </a:r>
            <a:r>
              <a:rPr lang="en-US" b="0" i="0" u="none" strike="noStrike" dirty="0">
                <a:effectLst/>
                <a:latin typeface="averta"/>
              </a:rPr>
              <a:t>barbiturate</a:t>
            </a:r>
            <a:r>
              <a:rPr lang="en-US" b="0" i="0" dirty="0">
                <a:effectLst/>
                <a:latin typeface="averta"/>
              </a:rPr>
              <a:t> poisoning, Cholera, Cachexia, Concussion, Drowning, Electrocution, Hypothermia, Hyperthermia, Sunstroke, Shock, Insanity, </a:t>
            </a:r>
            <a:r>
              <a:rPr lang="en-US" b="0" i="0" u="none" strike="noStrike" dirty="0">
                <a:effectLst/>
                <a:latin typeface="averta"/>
              </a:rPr>
              <a:t>Trance</a:t>
            </a:r>
            <a:r>
              <a:rPr lang="en-US" b="0" i="0" dirty="0">
                <a:effectLst/>
                <a:latin typeface="averta"/>
              </a:rPr>
              <a:t> (voluntarily suspended </a:t>
            </a:r>
            <a:r>
              <a:rPr lang="en-US" b="0" i="0" u="none" strike="noStrike" dirty="0">
                <a:effectLst/>
                <a:latin typeface="averta"/>
              </a:rPr>
              <a:t>animation</a:t>
            </a:r>
            <a:r>
              <a:rPr lang="en-US" b="0" i="0" dirty="0">
                <a:effectLst/>
                <a:latin typeface="averta"/>
              </a:rPr>
              <a:t> seen in </a:t>
            </a:r>
            <a:r>
              <a:rPr lang="en-US" b="0" i="0" u="none" strike="noStrike" dirty="0">
                <a:effectLst/>
                <a:latin typeface="averta"/>
              </a:rPr>
              <a:t>yoga</a:t>
            </a:r>
            <a:r>
              <a:rPr lang="en-US" b="0" i="0" dirty="0">
                <a:effectLst/>
                <a:latin typeface="averta"/>
              </a:rPr>
              <a:t> practitioners), </a:t>
            </a:r>
            <a:r>
              <a:rPr lang="en-US" b="0" i="0" u="none" strike="noStrike" dirty="0">
                <a:effectLst/>
                <a:latin typeface="averta"/>
              </a:rPr>
              <a:t>Typhoid</a:t>
            </a:r>
            <a:r>
              <a:rPr lang="en-US" b="0" i="0" dirty="0">
                <a:effectLst/>
                <a:latin typeface="averta"/>
              </a:rPr>
              <a:t> (enteric fever) and </a:t>
            </a:r>
            <a:r>
              <a:rPr lang="en-US" b="0" i="0" u="none" strike="noStrike" dirty="0">
                <a:effectLst/>
                <a:latin typeface="averta"/>
              </a:rPr>
              <a:t>Morphine</a:t>
            </a:r>
            <a:r>
              <a:rPr lang="en-US" b="0" i="0" dirty="0">
                <a:effectLst/>
                <a:latin typeface="averta"/>
              </a:rPr>
              <a:t> overdose. </a:t>
            </a:r>
            <a:endParaRPr lang="en-IN" dirty="0"/>
          </a:p>
        </p:txBody>
      </p:sp>
    </p:spTree>
    <p:extLst>
      <p:ext uri="{BB962C8B-B14F-4D97-AF65-F5344CB8AC3E}">
        <p14:creationId xmlns:p14="http://schemas.microsoft.com/office/powerpoint/2010/main" val="3034196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F9A716D3-2B99-CA82-10F7-AD641C1DA4E3}"/>
              </a:ext>
            </a:extLst>
          </p:cNvPr>
          <p:cNvGrpSpPr>
            <a:grpSpLocks/>
          </p:cNvGrpSpPr>
          <p:nvPr/>
        </p:nvGrpSpPr>
        <p:grpSpPr bwMode="auto">
          <a:xfrm>
            <a:off x="2816789" y="583278"/>
            <a:ext cx="6130566" cy="4859338"/>
            <a:chOff x="1802" y="3917"/>
            <a:chExt cx="8926" cy="7652"/>
          </a:xfrm>
        </p:grpSpPr>
        <p:pic>
          <p:nvPicPr>
            <p:cNvPr id="1027" name="Picture 3">
              <a:extLst>
                <a:ext uri="{FF2B5EF4-FFF2-40B4-BE49-F238E27FC236}">
                  <a16:creationId xmlns:a16="http://schemas.microsoft.com/office/drawing/2014/main" id="{DFC2A588-27F6-C96D-A48F-4F6C01C25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2" y="6415"/>
              <a:ext cx="8319" cy="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a:extLst>
                <a:ext uri="{FF2B5EF4-FFF2-40B4-BE49-F238E27FC236}">
                  <a16:creationId xmlns:a16="http://schemas.microsoft.com/office/drawing/2014/main" id="{7E75A808-47EF-D467-D0B8-DBDD19B22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0" y="3916"/>
              <a:ext cx="7248" cy="7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42626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85C67-57BA-59BD-0482-7B037DA7F6B8}"/>
              </a:ext>
            </a:extLst>
          </p:cNvPr>
          <p:cNvSpPr>
            <a:spLocks noGrp="1"/>
          </p:cNvSpPr>
          <p:nvPr>
            <p:ph type="title"/>
          </p:nvPr>
        </p:nvSpPr>
        <p:spPr/>
        <p:txBody>
          <a:bodyPr/>
          <a:lstStyle/>
          <a:p>
            <a:r>
              <a:rPr lang="en-IN" dirty="0"/>
              <a:t>Decomposition/ Putrefaction</a:t>
            </a:r>
          </a:p>
        </p:txBody>
      </p:sp>
      <p:sp>
        <p:nvSpPr>
          <p:cNvPr id="3" name="Content Placeholder 2">
            <a:extLst>
              <a:ext uri="{FF2B5EF4-FFF2-40B4-BE49-F238E27FC236}">
                <a16:creationId xmlns:a16="http://schemas.microsoft.com/office/drawing/2014/main" id="{7BEEB8C0-3F46-83E4-C6D3-784A4FB8A16D}"/>
              </a:ext>
            </a:extLst>
          </p:cNvPr>
          <p:cNvSpPr>
            <a:spLocks noGrp="1"/>
          </p:cNvSpPr>
          <p:nvPr>
            <p:ph idx="1"/>
          </p:nvPr>
        </p:nvSpPr>
        <p:spPr/>
        <p:txBody>
          <a:bodyPr>
            <a:normAutofit fontScale="85000" lnSpcReduction="10000"/>
          </a:bodyPr>
          <a:lstStyle/>
          <a:p>
            <a:r>
              <a:rPr lang="en-US" dirty="0"/>
              <a:t>It is Last stage in the resolution of the body where complex organic body constituents get converted to the simple inorganic state. Putrefaction is mainly brought about by two processes: Autolysis and bacterial action.</a:t>
            </a:r>
          </a:p>
          <a:p>
            <a:r>
              <a:rPr lang="en-US" dirty="0"/>
              <a:t>Autolysis: </a:t>
            </a:r>
          </a:p>
          <a:p>
            <a:pPr>
              <a:buFont typeface="Wingdings" panose="05000000000000000000" pitchFamily="2" charset="2"/>
              <a:buChar char="ü"/>
            </a:pPr>
            <a:r>
              <a:rPr lang="en-US" dirty="0"/>
              <a:t>This is rise in level of enzyme in tissues after death. </a:t>
            </a:r>
          </a:p>
          <a:p>
            <a:pPr>
              <a:buFont typeface="Wingdings" panose="05000000000000000000" pitchFamily="2" charset="2"/>
              <a:buChar char="ü"/>
            </a:pPr>
            <a:r>
              <a:rPr lang="en-US" dirty="0"/>
              <a:t>They soften and liquefy the dead tissues as the part of digestive action of the enzyme. </a:t>
            </a:r>
          </a:p>
          <a:p>
            <a:pPr>
              <a:buFont typeface="Wingdings" panose="05000000000000000000" pitchFamily="2" charset="2"/>
              <a:buChar char="ü"/>
            </a:pPr>
            <a:r>
              <a:rPr lang="en-US" dirty="0"/>
              <a:t>The earliest autolytic changes can be seen in parenchymatous tissues or soft tissues. </a:t>
            </a:r>
          </a:p>
          <a:p>
            <a:pPr>
              <a:buFont typeface="Wingdings" panose="05000000000000000000" pitchFamily="2" charset="2"/>
              <a:buChar char="ü"/>
            </a:pPr>
            <a:r>
              <a:rPr lang="en-US" dirty="0"/>
              <a:t>Autolysis Starts 3-4 hours after death and continues for 2-3 days, sometimes even longer. </a:t>
            </a:r>
          </a:p>
          <a:p>
            <a:pPr>
              <a:buFont typeface="Wingdings" panose="05000000000000000000" pitchFamily="2" charset="2"/>
              <a:buChar char="ü"/>
            </a:pPr>
            <a:r>
              <a:rPr lang="en-US" dirty="0"/>
              <a:t>The process can be stopped by freezing. </a:t>
            </a:r>
            <a:endParaRPr lang="en-IN" dirty="0"/>
          </a:p>
        </p:txBody>
      </p:sp>
    </p:spTree>
    <p:extLst>
      <p:ext uri="{BB962C8B-B14F-4D97-AF65-F5344CB8AC3E}">
        <p14:creationId xmlns:p14="http://schemas.microsoft.com/office/powerpoint/2010/main" val="2962276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E0ACD5-FB93-BBF6-960D-D58F6DBD78DC}"/>
              </a:ext>
            </a:extLst>
          </p:cNvPr>
          <p:cNvSpPr>
            <a:spLocks noGrp="1"/>
          </p:cNvSpPr>
          <p:nvPr>
            <p:ph idx="4294967295"/>
          </p:nvPr>
        </p:nvSpPr>
        <p:spPr>
          <a:xfrm>
            <a:off x="68827" y="285135"/>
            <a:ext cx="12123174" cy="5180628"/>
          </a:xfrm>
        </p:spPr>
        <p:txBody>
          <a:bodyPr>
            <a:normAutofit/>
          </a:bodyPr>
          <a:lstStyle/>
          <a:p>
            <a:r>
              <a:rPr lang="en-IN" dirty="0"/>
              <a:t>Bacterial action: </a:t>
            </a:r>
          </a:p>
          <a:p>
            <a:pPr marL="0" indent="0">
              <a:buNone/>
            </a:pPr>
            <a:r>
              <a:rPr lang="en-IN" dirty="0"/>
              <a:t>Action of bacterial enzymes (aerobic and anaerobic) on tissue components like carbohydrates/fat/proteins.</a:t>
            </a:r>
          </a:p>
          <a:p>
            <a:pPr>
              <a:buFont typeface="Wingdings" panose="05000000000000000000" pitchFamily="2" charset="2"/>
              <a:buChar char="ü"/>
            </a:pPr>
            <a:r>
              <a:rPr lang="en-IN" dirty="0"/>
              <a:t>For bacterial growth – warmth, moisture are conditions </a:t>
            </a:r>
            <a:r>
              <a:rPr lang="en-IN" dirty="0" err="1"/>
              <a:t>favorable</a:t>
            </a:r>
            <a:r>
              <a:rPr lang="en-IN" dirty="0"/>
              <a:t> conditions.</a:t>
            </a:r>
          </a:p>
          <a:p>
            <a:pPr>
              <a:buFont typeface="Wingdings" panose="05000000000000000000" pitchFamily="2" charset="2"/>
              <a:buChar char="ü"/>
            </a:pPr>
            <a:r>
              <a:rPr lang="en-IN" dirty="0"/>
              <a:t>Clostridium, streptococci, E coli, Bacillus proteus are the bacteria known to decompose body tissue components.</a:t>
            </a:r>
          </a:p>
          <a:p>
            <a:pPr>
              <a:buFont typeface="Wingdings" panose="05000000000000000000" pitchFamily="2" charset="2"/>
              <a:buChar char="ü"/>
            </a:pPr>
            <a:r>
              <a:rPr lang="en-IN" dirty="0"/>
              <a:t>Clostridium </a:t>
            </a:r>
            <a:r>
              <a:rPr lang="en-IN" dirty="0" err="1"/>
              <a:t>welchii</a:t>
            </a:r>
            <a:r>
              <a:rPr lang="en-IN" dirty="0"/>
              <a:t> is the bacteria which initiates haemolysis of blood and starts the process of putrefaction.</a:t>
            </a:r>
          </a:p>
          <a:p>
            <a:pPr>
              <a:buFont typeface="Wingdings" panose="05000000000000000000" pitchFamily="2" charset="2"/>
              <a:buChar char="ü"/>
            </a:pPr>
            <a:r>
              <a:rPr lang="en-IN" dirty="0"/>
              <a:t>In warm climate putrefaction starts comparatively faster while in cold climate the process is retarded.</a:t>
            </a:r>
          </a:p>
          <a:p>
            <a:pPr>
              <a:buFont typeface="Wingdings" panose="05000000000000000000" pitchFamily="2" charset="2"/>
              <a:buChar char="ü"/>
            </a:pPr>
            <a:r>
              <a:rPr lang="en-IN" dirty="0"/>
              <a:t>Development of gases under the skin and hollow viscera takes 18-36 hrs. </a:t>
            </a:r>
          </a:p>
          <a:p>
            <a:pPr>
              <a:buFont typeface="Wingdings" panose="05000000000000000000" pitchFamily="2" charset="2"/>
              <a:buChar char="ü"/>
            </a:pPr>
            <a:r>
              <a:rPr lang="en-IN" dirty="0"/>
              <a:t>24-48 hrs in case of solid viscera.</a:t>
            </a:r>
          </a:p>
          <a:p>
            <a:pPr marL="0" indent="0">
              <a:buNone/>
            </a:pPr>
            <a:endParaRPr lang="en-IN" dirty="0"/>
          </a:p>
        </p:txBody>
      </p:sp>
    </p:spTree>
    <p:extLst>
      <p:ext uri="{BB962C8B-B14F-4D97-AF65-F5344CB8AC3E}">
        <p14:creationId xmlns:p14="http://schemas.microsoft.com/office/powerpoint/2010/main" val="3090973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A460BF-0AA8-EBBE-4D94-CA4F1BC360FC}"/>
              </a:ext>
            </a:extLst>
          </p:cNvPr>
          <p:cNvSpPr>
            <a:spLocks noGrp="1"/>
          </p:cNvSpPr>
          <p:nvPr>
            <p:ph idx="4294967295"/>
          </p:nvPr>
        </p:nvSpPr>
        <p:spPr>
          <a:xfrm>
            <a:off x="245807" y="639097"/>
            <a:ext cx="11946194" cy="4826666"/>
          </a:xfrm>
        </p:spPr>
        <p:txBody>
          <a:bodyPr/>
          <a:lstStyle/>
          <a:p>
            <a:r>
              <a:rPr lang="en-US" dirty="0" err="1"/>
              <a:t>Purefaction</a:t>
            </a:r>
            <a:r>
              <a:rPr lang="en-US" dirty="0"/>
              <a:t> changes include: </a:t>
            </a:r>
          </a:p>
          <a:p>
            <a:pPr>
              <a:buFont typeface="Wingdings" panose="05000000000000000000" pitchFamily="2" charset="2"/>
              <a:buChar char="ü"/>
            </a:pPr>
            <a:r>
              <a:rPr lang="en-US" dirty="0"/>
              <a:t>Change in </a:t>
            </a:r>
            <a:r>
              <a:rPr lang="en-US" dirty="0" err="1"/>
              <a:t>colour</a:t>
            </a:r>
            <a:r>
              <a:rPr lang="en-US" dirty="0"/>
              <a:t>: </a:t>
            </a:r>
            <a:r>
              <a:rPr lang="en-US" dirty="0" err="1"/>
              <a:t>discolouration</a:t>
            </a:r>
            <a:r>
              <a:rPr lang="en-US" dirty="0"/>
              <a:t> varies from green to black due to formation of </a:t>
            </a:r>
            <a:r>
              <a:rPr lang="en-US" dirty="0" err="1"/>
              <a:t>sulphmethaemoglobin</a:t>
            </a:r>
            <a:r>
              <a:rPr lang="en-US" dirty="0"/>
              <a:t>. </a:t>
            </a:r>
          </a:p>
          <a:p>
            <a:pPr>
              <a:buFont typeface="Wingdings" panose="05000000000000000000" pitchFamily="2" charset="2"/>
              <a:buChar char="ü"/>
            </a:pPr>
            <a:r>
              <a:rPr lang="en-US" dirty="0"/>
              <a:t>Foul smelling gases: Hydrogen </a:t>
            </a:r>
            <a:r>
              <a:rPr lang="en-US" dirty="0" err="1"/>
              <a:t>sulphide</a:t>
            </a:r>
            <a:r>
              <a:rPr lang="en-US" dirty="0"/>
              <a:t> ammonia phosphorated hydrogen and methane are the gases and its  formation creates foul smell. </a:t>
            </a:r>
          </a:p>
          <a:p>
            <a:pPr>
              <a:buFont typeface="Wingdings" panose="05000000000000000000" pitchFamily="2" charset="2"/>
              <a:buChar char="ü"/>
            </a:pPr>
            <a:r>
              <a:rPr lang="en-US" dirty="0"/>
              <a:t>Sufficient accumulation of these gases is the reason why body floats in case of drowning</a:t>
            </a:r>
            <a:endParaRPr lang="en-IN" dirty="0"/>
          </a:p>
        </p:txBody>
      </p:sp>
    </p:spTree>
    <p:extLst>
      <p:ext uri="{BB962C8B-B14F-4D97-AF65-F5344CB8AC3E}">
        <p14:creationId xmlns:p14="http://schemas.microsoft.com/office/powerpoint/2010/main" val="4254027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237F16-6DB1-A76F-E01F-4ED92D9AEC08}"/>
              </a:ext>
            </a:extLst>
          </p:cNvPr>
          <p:cNvSpPr>
            <a:spLocks noGrp="1"/>
          </p:cNvSpPr>
          <p:nvPr>
            <p:ph idx="4294967295"/>
          </p:nvPr>
        </p:nvSpPr>
        <p:spPr>
          <a:xfrm>
            <a:off x="462117" y="747252"/>
            <a:ext cx="11729884" cy="4718511"/>
          </a:xfrm>
        </p:spPr>
        <p:txBody>
          <a:bodyPr>
            <a:normAutofit/>
          </a:bodyPr>
          <a:lstStyle/>
          <a:p>
            <a:r>
              <a:rPr lang="en-IN" dirty="0"/>
              <a:t>Factors affecting putrefaction:</a:t>
            </a:r>
          </a:p>
          <a:p>
            <a:pPr>
              <a:buFont typeface="Wingdings" panose="05000000000000000000" pitchFamily="2" charset="2"/>
              <a:buChar char="ü"/>
            </a:pPr>
            <a:r>
              <a:rPr lang="en-US" dirty="0"/>
              <a:t>Warmth and clothing </a:t>
            </a:r>
          </a:p>
          <a:p>
            <a:pPr>
              <a:buFont typeface="Wingdings" panose="05000000000000000000" pitchFamily="2" charset="2"/>
              <a:buChar char="ü"/>
            </a:pPr>
            <a:r>
              <a:rPr lang="en-US" dirty="0"/>
              <a:t>Moisture </a:t>
            </a:r>
          </a:p>
          <a:p>
            <a:pPr>
              <a:buFont typeface="Wingdings" panose="05000000000000000000" pitchFamily="2" charset="2"/>
              <a:buChar char="ü"/>
            </a:pPr>
            <a:r>
              <a:rPr lang="en-US" dirty="0"/>
              <a:t>Air </a:t>
            </a:r>
          </a:p>
          <a:p>
            <a:pPr>
              <a:buFont typeface="Wingdings" panose="05000000000000000000" pitchFamily="2" charset="2"/>
              <a:buChar char="ü"/>
            </a:pPr>
            <a:r>
              <a:rPr lang="en-US" dirty="0"/>
              <a:t>Age </a:t>
            </a:r>
          </a:p>
          <a:p>
            <a:pPr>
              <a:buFont typeface="Wingdings" panose="05000000000000000000" pitchFamily="2" charset="2"/>
              <a:buChar char="ü"/>
            </a:pPr>
            <a:r>
              <a:rPr lang="en-US" dirty="0"/>
              <a:t>Manner of burial </a:t>
            </a:r>
          </a:p>
          <a:p>
            <a:pPr>
              <a:buFont typeface="Wingdings" panose="05000000000000000000" pitchFamily="2" charset="2"/>
              <a:buChar char="ü"/>
            </a:pPr>
            <a:r>
              <a:rPr lang="en-US" dirty="0"/>
              <a:t>Condition of body </a:t>
            </a:r>
          </a:p>
          <a:p>
            <a:pPr>
              <a:buFont typeface="Wingdings" panose="05000000000000000000" pitchFamily="2" charset="2"/>
              <a:buChar char="ü"/>
            </a:pPr>
            <a:r>
              <a:rPr lang="en-US" dirty="0"/>
              <a:t>Sex </a:t>
            </a:r>
          </a:p>
          <a:p>
            <a:pPr>
              <a:buFont typeface="Wingdings" panose="05000000000000000000" pitchFamily="2" charset="2"/>
              <a:buChar char="ü"/>
            </a:pPr>
            <a:r>
              <a:rPr lang="en-US" dirty="0"/>
              <a:t>Mode of death </a:t>
            </a:r>
            <a:endParaRPr lang="en-IN" dirty="0"/>
          </a:p>
        </p:txBody>
      </p:sp>
    </p:spTree>
    <p:extLst>
      <p:ext uri="{BB962C8B-B14F-4D97-AF65-F5344CB8AC3E}">
        <p14:creationId xmlns:p14="http://schemas.microsoft.com/office/powerpoint/2010/main" val="3659461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tages of Insect Life Cycle | Forensic Entomology">
            <a:extLst>
              <a:ext uri="{FF2B5EF4-FFF2-40B4-BE49-F238E27FC236}">
                <a16:creationId xmlns:a16="http://schemas.microsoft.com/office/drawing/2014/main" id="{F5A0BAB3-4CE4-D343-40DC-BD82BD9032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1376363"/>
            <a:ext cx="4343400" cy="410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079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7EA9E-1B45-2B98-D4CF-376CA3131BCD}"/>
              </a:ext>
            </a:extLst>
          </p:cNvPr>
          <p:cNvSpPr>
            <a:spLocks noGrp="1"/>
          </p:cNvSpPr>
          <p:nvPr>
            <p:ph type="title"/>
          </p:nvPr>
        </p:nvSpPr>
        <p:spPr/>
        <p:txBody>
          <a:bodyPr/>
          <a:lstStyle/>
          <a:p>
            <a:r>
              <a:rPr lang="en-IN" dirty="0"/>
              <a:t>Stages of Decomposition</a:t>
            </a:r>
          </a:p>
        </p:txBody>
      </p:sp>
      <p:sp>
        <p:nvSpPr>
          <p:cNvPr id="3" name="Content Placeholder 2">
            <a:extLst>
              <a:ext uri="{FF2B5EF4-FFF2-40B4-BE49-F238E27FC236}">
                <a16:creationId xmlns:a16="http://schemas.microsoft.com/office/drawing/2014/main" id="{091EF682-9102-B9D3-16CE-9FCFF04A42F1}"/>
              </a:ext>
            </a:extLst>
          </p:cNvPr>
          <p:cNvSpPr>
            <a:spLocks noGrp="1"/>
          </p:cNvSpPr>
          <p:nvPr>
            <p:ph idx="1"/>
          </p:nvPr>
        </p:nvSpPr>
        <p:spPr/>
        <p:txBody>
          <a:bodyPr>
            <a:normAutofit fontScale="85000" lnSpcReduction="10000"/>
          </a:bodyPr>
          <a:lstStyle/>
          <a:p>
            <a:r>
              <a:rPr lang="en-US" dirty="0"/>
              <a:t>The decomposition of a body typically goes through seven stages, often used in forensic science and anthropology to understand the process. </a:t>
            </a:r>
          </a:p>
          <a:p>
            <a:r>
              <a:rPr lang="en-US" b="1" dirty="0"/>
              <a:t>Fresh Stage</a:t>
            </a:r>
            <a:r>
              <a:rPr lang="en-US" dirty="0"/>
              <a:t>: Immediately after death, the body starts to cool (algor mortis) and undergoes changes in coloration. Rigor mortis (stiffening of muscles) begins within a few hours. </a:t>
            </a:r>
            <a:r>
              <a:rPr lang="en-US" b="0" i="0" dirty="0">
                <a:solidFill>
                  <a:srgbClr val="000000"/>
                </a:solidFill>
                <a:effectLst/>
                <a:latin typeface="Times New Roman" panose="02020603050405020304" pitchFamily="18" charset="0"/>
              </a:rPr>
              <a:t>The fresh phase can start as early as 24 hours and as late as 7 days after death, especially in colder winter months.</a:t>
            </a:r>
            <a:endParaRPr lang="en-US" dirty="0"/>
          </a:p>
          <a:p>
            <a:r>
              <a:rPr lang="en-US" b="1" dirty="0"/>
              <a:t>Bloat Stage</a:t>
            </a:r>
            <a:r>
              <a:rPr lang="en-US" dirty="0"/>
              <a:t>: Within a few days, gases produced by bacteria cause the body to swell. Discoloration occurs, and fluids may begin to leak from orifices.</a:t>
            </a:r>
          </a:p>
          <a:p>
            <a:r>
              <a:rPr lang="en-US" b="1" dirty="0"/>
              <a:t>Active Decay Stage</a:t>
            </a:r>
            <a:r>
              <a:rPr lang="en-US" dirty="0"/>
              <a:t>: The body breaks down significantly as maggots and bacteria consume tissues. The skin may rupture, and there’s a noticeable odor due to the release of gases and decay products.</a:t>
            </a:r>
            <a:endParaRPr lang="en-IN" dirty="0"/>
          </a:p>
        </p:txBody>
      </p:sp>
    </p:spTree>
    <p:extLst>
      <p:ext uri="{BB962C8B-B14F-4D97-AF65-F5344CB8AC3E}">
        <p14:creationId xmlns:p14="http://schemas.microsoft.com/office/powerpoint/2010/main" val="2177037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D383EE-2123-653C-8BC1-88C80A18E473}"/>
              </a:ext>
            </a:extLst>
          </p:cNvPr>
          <p:cNvSpPr>
            <a:spLocks noGrp="1"/>
          </p:cNvSpPr>
          <p:nvPr>
            <p:ph idx="4294967295"/>
          </p:nvPr>
        </p:nvSpPr>
        <p:spPr>
          <a:xfrm>
            <a:off x="186813" y="285135"/>
            <a:ext cx="12005187" cy="5180628"/>
          </a:xfrm>
        </p:spPr>
        <p:txBody>
          <a:bodyPr>
            <a:normAutofit/>
          </a:bodyPr>
          <a:lstStyle/>
          <a:p>
            <a:r>
              <a:rPr lang="en-US" b="1" dirty="0"/>
              <a:t>Advanced Decay Stage</a:t>
            </a:r>
            <a:r>
              <a:rPr lang="en-US" dirty="0"/>
              <a:t>: Tissues continue to decompose, and most of the soft tissue is gone. The body may appear skeletal, with less odor as the remaining materials decompose.</a:t>
            </a:r>
          </a:p>
          <a:p>
            <a:r>
              <a:rPr lang="en-US" b="1" dirty="0"/>
              <a:t>Dry Remains Stage</a:t>
            </a:r>
            <a:r>
              <a:rPr lang="en-US" dirty="0"/>
              <a:t>: The body is mostly skeletonized, with some dried tissues remaining. Environmental factors influence the rate of decomposition at this stage.</a:t>
            </a:r>
          </a:p>
          <a:p>
            <a:r>
              <a:rPr lang="en-US" b="1" dirty="0"/>
              <a:t>Skeletonization Stage</a:t>
            </a:r>
            <a:r>
              <a:rPr lang="en-US" dirty="0"/>
              <a:t>: The remains are primarily bones, possibly with some mummified tissue. The bones may start to show signs of weathering.</a:t>
            </a:r>
          </a:p>
          <a:p>
            <a:r>
              <a:rPr lang="en-US" b="1" dirty="0"/>
              <a:t>Decomposition Complete</a:t>
            </a:r>
            <a:r>
              <a:rPr lang="en-US" dirty="0"/>
              <a:t>: Eventually, the bones may break down and be subject to environmental factors, leading to their eventual disintegration or mineralization.</a:t>
            </a:r>
          </a:p>
          <a:p>
            <a:pPr marL="0" indent="0">
              <a:buNone/>
            </a:pPr>
            <a:r>
              <a:rPr lang="en-US" dirty="0"/>
              <a:t>These stages can vary significantly depending on environmental conditions, such as temperature, humidity, and the presence of scavengers.</a:t>
            </a:r>
            <a:endParaRPr lang="en-IN" dirty="0"/>
          </a:p>
        </p:txBody>
      </p:sp>
    </p:spTree>
    <p:extLst>
      <p:ext uri="{BB962C8B-B14F-4D97-AF65-F5344CB8AC3E}">
        <p14:creationId xmlns:p14="http://schemas.microsoft.com/office/powerpoint/2010/main" val="1729106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C3D25-8B8B-8AA1-9B42-9D34D90B4002}"/>
              </a:ext>
            </a:extLst>
          </p:cNvPr>
          <p:cNvSpPr>
            <a:spLocks noGrp="1"/>
          </p:cNvSpPr>
          <p:nvPr>
            <p:ph type="title"/>
          </p:nvPr>
        </p:nvSpPr>
        <p:spPr/>
        <p:txBody>
          <a:bodyPr/>
          <a:lstStyle/>
          <a:p>
            <a:r>
              <a:rPr lang="en-IN" b="1" i="0" cap="all" dirty="0">
                <a:solidFill>
                  <a:srgbClr val="003A5D"/>
                </a:solidFill>
                <a:effectLst/>
                <a:latin typeface="DIN Pro Light"/>
              </a:rPr>
              <a:t>Human Body Decomposition Timeline</a:t>
            </a:r>
            <a:br>
              <a:rPr lang="en-IN" b="0" i="0" cap="all" dirty="0">
                <a:solidFill>
                  <a:srgbClr val="003A5D"/>
                </a:solidFill>
                <a:effectLst/>
                <a:latin typeface="DIN Pro Light"/>
              </a:rPr>
            </a:br>
            <a:endParaRPr lang="en-IN" dirty="0"/>
          </a:p>
        </p:txBody>
      </p:sp>
      <p:sp>
        <p:nvSpPr>
          <p:cNvPr id="3" name="Content Placeholder 2">
            <a:extLst>
              <a:ext uri="{FF2B5EF4-FFF2-40B4-BE49-F238E27FC236}">
                <a16:creationId xmlns:a16="http://schemas.microsoft.com/office/drawing/2014/main" id="{ADF97196-0F26-0065-3B5F-439201F46BD8}"/>
              </a:ext>
            </a:extLst>
          </p:cNvPr>
          <p:cNvSpPr>
            <a:spLocks noGrp="1"/>
          </p:cNvSpPr>
          <p:nvPr>
            <p:ph idx="1"/>
          </p:nvPr>
        </p:nvSpPr>
        <p:spPr/>
        <p:txBody>
          <a:bodyPr/>
          <a:lstStyle/>
          <a:p>
            <a:pPr algn="l"/>
            <a:r>
              <a:rPr lang="en-US" b="1" i="0" dirty="0">
                <a:solidFill>
                  <a:srgbClr val="002135"/>
                </a:solidFill>
                <a:effectLst/>
                <a:latin typeface="Open Sans" panose="020B0606030504020204" pitchFamily="34" charset="0"/>
              </a:rPr>
              <a:t>24-72 hours after death </a:t>
            </a:r>
            <a:r>
              <a:rPr lang="en-US" b="0" i="0" dirty="0">
                <a:solidFill>
                  <a:srgbClr val="002135"/>
                </a:solidFill>
                <a:effectLst/>
                <a:latin typeface="Open Sans" panose="020B0606030504020204" pitchFamily="34" charset="0"/>
              </a:rPr>
              <a:t>— the internal organs decompose.</a:t>
            </a:r>
          </a:p>
          <a:p>
            <a:pPr algn="l"/>
            <a:r>
              <a:rPr lang="en-US" b="1" i="0" dirty="0">
                <a:solidFill>
                  <a:srgbClr val="002135"/>
                </a:solidFill>
                <a:effectLst/>
                <a:latin typeface="Open Sans" panose="020B0606030504020204" pitchFamily="34" charset="0"/>
              </a:rPr>
              <a:t>3-5 days after death </a:t>
            </a:r>
            <a:r>
              <a:rPr lang="en-US" b="0" i="0" dirty="0">
                <a:solidFill>
                  <a:srgbClr val="002135"/>
                </a:solidFill>
                <a:effectLst/>
                <a:latin typeface="Open Sans" panose="020B0606030504020204" pitchFamily="34" charset="0"/>
              </a:rPr>
              <a:t>— the body starts to bloat and</a:t>
            </a:r>
            <a:r>
              <a:rPr lang="en-US" b="0" i="0" dirty="0">
                <a:effectLst/>
                <a:latin typeface="Open Sans" panose="020B0606030504020204" pitchFamily="34" charset="0"/>
              </a:rPr>
              <a:t> blood-containing foam </a:t>
            </a:r>
            <a:r>
              <a:rPr lang="en-US" b="0" i="0" dirty="0">
                <a:solidFill>
                  <a:srgbClr val="002135"/>
                </a:solidFill>
                <a:effectLst/>
                <a:latin typeface="Open Sans" panose="020B0606030504020204" pitchFamily="34" charset="0"/>
              </a:rPr>
              <a:t>leaks from the mouth and nose.</a:t>
            </a:r>
          </a:p>
          <a:p>
            <a:pPr algn="l"/>
            <a:r>
              <a:rPr lang="en-US" b="1" i="0" dirty="0">
                <a:solidFill>
                  <a:srgbClr val="002135"/>
                </a:solidFill>
                <a:effectLst/>
                <a:latin typeface="Open Sans" panose="020B0606030504020204" pitchFamily="34" charset="0"/>
              </a:rPr>
              <a:t>8-10 days after death </a:t>
            </a:r>
            <a:r>
              <a:rPr lang="en-US" b="0" i="0" dirty="0">
                <a:solidFill>
                  <a:srgbClr val="002135"/>
                </a:solidFill>
                <a:effectLst/>
                <a:latin typeface="Open Sans" panose="020B0606030504020204" pitchFamily="34" charset="0"/>
              </a:rPr>
              <a:t>— the body turns from green to red as the blood decomposes and the organs in the abdomen accumulate gas.</a:t>
            </a:r>
          </a:p>
          <a:p>
            <a:pPr algn="l"/>
            <a:r>
              <a:rPr lang="en-US" b="1" i="0" dirty="0">
                <a:solidFill>
                  <a:srgbClr val="002135"/>
                </a:solidFill>
                <a:effectLst/>
                <a:latin typeface="Open Sans" panose="020B0606030504020204" pitchFamily="34" charset="0"/>
              </a:rPr>
              <a:t>Several weeks after death</a:t>
            </a:r>
            <a:r>
              <a:rPr lang="en-US" b="0" i="0" dirty="0">
                <a:solidFill>
                  <a:srgbClr val="002135"/>
                </a:solidFill>
                <a:effectLst/>
                <a:latin typeface="Open Sans" panose="020B0606030504020204" pitchFamily="34" charset="0"/>
              </a:rPr>
              <a:t> — nails and teeth fall out.</a:t>
            </a:r>
          </a:p>
          <a:p>
            <a:pPr algn="l"/>
            <a:r>
              <a:rPr lang="en-US" b="1" i="0" dirty="0">
                <a:solidFill>
                  <a:srgbClr val="002135"/>
                </a:solidFill>
                <a:effectLst/>
                <a:latin typeface="Open Sans" panose="020B0606030504020204" pitchFamily="34" charset="0"/>
              </a:rPr>
              <a:t>1 month after death</a:t>
            </a:r>
            <a:r>
              <a:rPr lang="en-US" b="0" i="0" dirty="0">
                <a:solidFill>
                  <a:srgbClr val="002135"/>
                </a:solidFill>
                <a:effectLst/>
                <a:latin typeface="Open Sans" panose="020B0606030504020204" pitchFamily="34" charset="0"/>
              </a:rPr>
              <a:t> — the body starts to liquify.</a:t>
            </a:r>
          </a:p>
          <a:p>
            <a:endParaRPr lang="en-IN" dirty="0"/>
          </a:p>
        </p:txBody>
      </p:sp>
    </p:spTree>
    <p:extLst>
      <p:ext uri="{BB962C8B-B14F-4D97-AF65-F5344CB8AC3E}">
        <p14:creationId xmlns:p14="http://schemas.microsoft.com/office/powerpoint/2010/main" val="2095716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FFCC-E66C-EF3E-4627-0199D2237D73}"/>
              </a:ext>
            </a:extLst>
          </p:cNvPr>
          <p:cNvSpPr>
            <a:spLocks noGrp="1"/>
          </p:cNvSpPr>
          <p:nvPr>
            <p:ph type="title"/>
          </p:nvPr>
        </p:nvSpPr>
        <p:spPr/>
        <p:txBody>
          <a:bodyPr/>
          <a:lstStyle/>
          <a:p>
            <a:r>
              <a:rPr lang="en-IN" dirty="0"/>
              <a:t>Role of insect in Decomposition</a:t>
            </a:r>
          </a:p>
        </p:txBody>
      </p:sp>
      <p:sp>
        <p:nvSpPr>
          <p:cNvPr id="3" name="Content Placeholder 2">
            <a:extLst>
              <a:ext uri="{FF2B5EF4-FFF2-40B4-BE49-F238E27FC236}">
                <a16:creationId xmlns:a16="http://schemas.microsoft.com/office/drawing/2014/main" id="{A612AA3F-5C76-81DD-CF2F-CF8CBC37FBE5}"/>
              </a:ext>
            </a:extLst>
          </p:cNvPr>
          <p:cNvSpPr>
            <a:spLocks noGrp="1"/>
          </p:cNvSpPr>
          <p:nvPr>
            <p:ph idx="1"/>
          </p:nvPr>
        </p:nvSpPr>
        <p:spPr/>
        <p:txBody>
          <a:bodyPr/>
          <a:lstStyle/>
          <a:p>
            <a:r>
              <a:rPr lang="en-US" dirty="0"/>
              <a:t>Insects play a crucial role in the decomposition process, aiding in the breakdown of organic matter and recycling nutrients back into the ecosystem.</a:t>
            </a:r>
          </a:p>
          <a:p>
            <a:pPr marL="457200" indent="-457200">
              <a:buAutoNum type="arabicPeriod"/>
            </a:pPr>
            <a:r>
              <a:rPr lang="en-US" b="1" dirty="0"/>
              <a:t>Initial Colonizers</a:t>
            </a:r>
            <a:r>
              <a:rPr lang="en-US" dirty="0"/>
              <a:t>: After death, insects, particularly blowflies, are often among the first to arrive. They are attracted to the body by the odor and lay their eggs in exposed areas.</a:t>
            </a:r>
          </a:p>
          <a:p>
            <a:pPr marL="457200" indent="-457200">
              <a:buAutoNum type="arabicPeriod"/>
            </a:pPr>
            <a:r>
              <a:rPr lang="en-US" b="1" dirty="0"/>
              <a:t>Feeding and Breakdown</a:t>
            </a:r>
            <a:r>
              <a:rPr lang="en-US" dirty="0"/>
              <a:t>: Larvae (maggots) hatch from the eggs and begin feeding on the decaying tissue. This feeding accelerates decomposition by breaking down tissues into smaller components.</a:t>
            </a:r>
            <a:endParaRPr lang="en-IN" dirty="0"/>
          </a:p>
        </p:txBody>
      </p:sp>
    </p:spTree>
    <p:extLst>
      <p:ext uri="{BB962C8B-B14F-4D97-AF65-F5344CB8AC3E}">
        <p14:creationId xmlns:p14="http://schemas.microsoft.com/office/powerpoint/2010/main" val="3297346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D44DBE-2DD0-13AF-6285-486DB12D622E}"/>
              </a:ext>
            </a:extLst>
          </p:cNvPr>
          <p:cNvSpPr>
            <a:spLocks noGrp="1"/>
          </p:cNvSpPr>
          <p:nvPr>
            <p:ph idx="4294967295"/>
          </p:nvPr>
        </p:nvSpPr>
        <p:spPr>
          <a:xfrm>
            <a:off x="393291" y="167148"/>
            <a:ext cx="10923638" cy="5298615"/>
          </a:xfrm>
        </p:spPr>
        <p:txBody>
          <a:bodyPr>
            <a:normAutofit/>
          </a:bodyPr>
          <a:lstStyle/>
          <a:p>
            <a:pPr marL="0" indent="0">
              <a:buNone/>
            </a:pPr>
            <a:r>
              <a:rPr lang="en-IN" dirty="0"/>
              <a:t>3. </a:t>
            </a:r>
            <a:r>
              <a:rPr lang="en-US" b="1" dirty="0"/>
              <a:t>Nutrient Recycling</a:t>
            </a:r>
            <a:r>
              <a:rPr lang="en-US" dirty="0"/>
              <a:t>: As insects consume decomposing material, they facilitate the recycling of nutrients. Their waste products enrich the soil, promoting plant growth.</a:t>
            </a:r>
          </a:p>
          <a:p>
            <a:pPr marL="0" indent="0">
              <a:buNone/>
            </a:pPr>
            <a:r>
              <a:rPr lang="en-US" dirty="0"/>
              <a:t>4. </a:t>
            </a:r>
            <a:r>
              <a:rPr lang="en-US" b="1" dirty="0"/>
              <a:t>Predators and Scavengers</a:t>
            </a:r>
            <a:r>
              <a:rPr lang="en-US" dirty="0"/>
              <a:t>: Other insects, such as beetles, may feed on the larvae or on remaining tissues, further aiding in decomposition. Their activities help control the population of other decomposers.</a:t>
            </a:r>
          </a:p>
          <a:p>
            <a:pPr marL="0" indent="0">
              <a:buNone/>
            </a:pPr>
            <a:r>
              <a:rPr lang="en-US" dirty="0"/>
              <a:t>5. </a:t>
            </a:r>
            <a:r>
              <a:rPr lang="en-US" b="1" dirty="0"/>
              <a:t>Indicator Species</a:t>
            </a:r>
            <a:r>
              <a:rPr lang="en-US" dirty="0"/>
              <a:t>: Certain insects can indicate the time since death, aiding forensic investigations. The presence of specific insect species can provide crucial information about the environment and time frame of decomposition.</a:t>
            </a:r>
          </a:p>
          <a:p>
            <a:pPr marL="0" indent="0">
              <a:buNone/>
            </a:pPr>
            <a:r>
              <a:rPr lang="en-US" dirty="0"/>
              <a:t>6. </a:t>
            </a:r>
            <a:r>
              <a:rPr lang="en-US" b="1" dirty="0"/>
              <a:t>Microbial Facilitation</a:t>
            </a:r>
            <a:r>
              <a:rPr lang="en-US" dirty="0"/>
              <a:t>: Insects also help disperse bacteria and fungi that contribute to the decomposition process, enhancing microbial activity.</a:t>
            </a:r>
            <a:endParaRPr lang="en-IN" dirty="0"/>
          </a:p>
        </p:txBody>
      </p:sp>
    </p:spTree>
    <p:extLst>
      <p:ext uri="{BB962C8B-B14F-4D97-AF65-F5344CB8AC3E}">
        <p14:creationId xmlns:p14="http://schemas.microsoft.com/office/powerpoint/2010/main" val="2936693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59D12-2F0E-A489-B2D4-86E216ED80D2}"/>
              </a:ext>
            </a:extLst>
          </p:cNvPr>
          <p:cNvSpPr>
            <a:spLocks noGrp="1"/>
          </p:cNvSpPr>
          <p:nvPr>
            <p:ph type="title" idx="4294967295"/>
          </p:nvPr>
        </p:nvSpPr>
        <p:spPr>
          <a:xfrm>
            <a:off x="2587625" y="804863"/>
            <a:ext cx="9604375" cy="1049337"/>
          </a:xfrm>
        </p:spPr>
        <p:txBody>
          <a:bodyPr/>
          <a:lstStyle/>
          <a:p>
            <a:r>
              <a:rPr lang="en-IN" dirty="0"/>
              <a:t>Insect SUCCESSION LEVEL ON CADAVER</a:t>
            </a:r>
          </a:p>
        </p:txBody>
      </p:sp>
      <p:pic>
        <p:nvPicPr>
          <p:cNvPr id="24" name="Picture 53">
            <a:extLst>
              <a:ext uri="{FF2B5EF4-FFF2-40B4-BE49-F238E27FC236}">
                <a16:creationId xmlns:a16="http://schemas.microsoft.com/office/drawing/2014/main" id="{0D152143-5AB6-8D48-5B2C-7018916A0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8835" y="1937133"/>
            <a:ext cx="5889462" cy="3981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2303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2">
            <a:extLst>
              <a:ext uri="{FF2B5EF4-FFF2-40B4-BE49-F238E27FC236}">
                <a16:creationId xmlns:a16="http://schemas.microsoft.com/office/drawing/2014/main" id="{B84CD8A4-9D91-303B-75DF-380494366F9B}"/>
              </a:ext>
            </a:extLst>
          </p:cNvPr>
          <p:cNvPicPr/>
          <p:nvPr/>
        </p:nvPicPr>
        <p:blipFill>
          <a:blip r:embed="rId2" cstate="print"/>
          <a:stretch>
            <a:fillRect/>
          </a:stretch>
        </p:blipFill>
        <p:spPr>
          <a:xfrm>
            <a:off x="894735" y="855406"/>
            <a:ext cx="10314039" cy="4689987"/>
          </a:xfrm>
          <a:prstGeom prst="rect">
            <a:avLst/>
          </a:prstGeom>
        </p:spPr>
      </p:pic>
    </p:spTree>
    <p:extLst>
      <p:ext uri="{BB962C8B-B14F-4D97-AF65-F5344CB8AC3E}">
        <p14:creationId xmlns:p14="http://schemas.microsoft.com/office/powerpoint/2010/main" val="2279354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F60A4-F866-A515-11CE-9C52266EB9A8}"/>
              </a:ext>
            </a:extLst>
          </p:cNvPr>
          <p:cNvSpPr>
            <a:spLocks noGrp="1"/>
          </p:cNvSpPr>
          <p:nvPr>
            <p:ph type="title"/>
          </p:nvPr>
        </p:nvSpPr>
        <p:spPr/>
        <p:txBody>
          <a:bodyPr/>
          <a:lstStyle/>
          <a:p>
            <a:r>
              <a:rPr lang="en-IN" dirty="0"/>
              <a:t>PMI Estimation</a:t>
            </a:r>
          </a:p>
        </p:txBody>
      </p:sp>
      <p:sp>
        <p:nvSpPr>
          <p:cNvPr id="3" name="Content Placeholder 2">
            <a:extLst>
              <a:ext uri="{FF2B5EF4-FFF2-40B4-BE49-F238E27FC236}">
                <a16:creationId xmlns:a16="http://schemas.microsoft.com/office/drawing/2014/main" id="{C7C4A0C0-AFB6-F8AF-489B-765A1C120990}"/>
              </a:ext>
            </a:extLst>
          </p:cNvPr>
          <p:cNvSpPr>
            <a:spLocks noGrp="1"/>
          </p:cNvSpPr>
          <p:nvPr>
            <p:ph idx="1"/>
          </p:nvPr>
        </p:nvSpPr>
        <p:spPr/>
        <p:txBody>
          <a:bodyPr>
            <a:normAutofit fontScale="92500" lnSpcReduction="10000"/>
          </a:bodyPr>
          <a:lstStyle/>
          <a:p>
            <a:r>
              <a:rPr lang="en-US" dirty="0"/>
              <a:t>The postmortem interval (PMI) refers to the time that has elapsed since a person has died until the body is discovered or examined. Estimating the PMI is crucial in forensic investigations as it can help establish timelines, support or refute alibis, and provide insights into the circumstances surrounding a death.</a:t>
            </a:r>
          </a:p>
          <a:p>
            <a:r>
              <a:rPr lang="en-US" dirty="0"/>
              <a:t>Time of death and PMI cannot be determined with 100% accuracy particularly when a body is found in following condition:</a:t>
            </a:r>
          </a:p>
          <a:p>
            <a:pPr>
              <a:buFont typeface="Wingdings" panose="05000000000000000000" pitchFamily="2" charset="2"/>
              <a:buChar char="ü"/>
            </a:pPr>
            <a:r>
              <a:rPr lang="en-US" dirty="0"/>
              <a:t>Found in advanced decomposition stage</a:t>
            </a:r>
          </a:p>
          <a:p>
            <a:pPr>
              <a:buFont typeface="Wingdings" panose="05000000000000000000" pitchFamily="2" charset="2"/>
              <a:buChar char="ü"/>
            </a:pPr>
            <a:r>
              <a:rPr lang="en-US" dirty="0"/>
              <a:t>Recovered in water </a:t>
            </a:r>
          </a:p>
          <a:p>
            <a:pPr>
              <a:buFont typeface="Wingdings" panose="05000000000000000000" pitchFamily="2" charset="2"/>
              <a:buChar char="ü"/>
            </a:pPr>
            <a:r>
              <a:rPr lang="en-US" dirty="0"/>
              <a:t>Recovered in ice</a:t>
            </a:r>
            <a:endParaRPr lang="en-IN" dirty="0"/>
          </a:p>
        </p:txBody>
      </p:sp>
    </p:spTree>
    <p:extLst>
      <p:ext uri="{BB962C8B-B14F-4D97-AF65-F5344CB8AC3E}">
        <p14:creationId xmlns:p14="http://schemas.microsoft.com/office/powerpoint/2010/main" val="2339532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11CF-4654-A2AD-7A13-18921DB92CA4}"/>
              </a:ext>
            </a:extLst>
          </p:cNvPr>
          <p:cNvSpPr>
            <a:spLocks noGrp="1"/>
          </p:cNvSpPr>
          <p:nvPr>
            <p:ph type="title"/>
          </p:nvPr>
        </p:nvSpPr>
        <p:spPr/>
        <p:txBody>
          <a:bodyPr/>
          <a:lstStyle/>
          <a:p>
            <a:r>
              <a:rPr lang="en-IN" dirty="0"/>
              <a:t>Estimation of PMI</a:t>
            </a:r>
          </a:p>
        </p:txBody>
      </p:sp>
      <p:sp>
        <p:nvSpPr>
          <p:cNvPr id="3" name="Content Placeholder 2">
            <a:extLst>
              <a:ext uri="{FF2B5EF4-FFF2-40B4-BE49-F238E27FC236}">
                <a16:creationId xmlns:a16="http://schemas.microsoft.com/office/drawing/2014/main" id="{058DC033-AF1B-A72F-FA03-3380F7DFE5F0}"/>
              </a:ext>
            </a:extLst>
          </p:cNvPr>
          <p:cNvSpPr>
            <a:spLocks noGrp="1"/>
          </p:cNvSpPr>
          <p:nvPr>
            <p:ph idx="1"/>
          </p:nvPr>
        </p:nvSpPr>
        <p:spPr/>
        <p:txBody>
          <a:bodyPr/>
          <a:lstStyle/>
          <a:p>
            <a:r>
              <a:rPr lang="en-IN" dirty="0"/>
              <a:t>1. Algor mortis:</a:t>
            </a:r>
          </a:p>
          <a:p>
            <a:pPr marL="0" indent="0">
              <a:buNone/>
            </a:pPr>
            <a:r>
              <a:rPr lang="en-US" b="0" i="0" dirty="0">
                <a:solidFill>
                  <a:srgbClr val="000000"/>
                </a:solidFill>
                <a:effectLst/>
                <a:latin typeface="Times New Roman" panose="02020603050405020304" pitchFamily="18" charset="0"/>
              </a:rPr>
              <a:t>Algor mortis is the cooling of the body after death, primarily due to the loss of homeostatic regulation by the hypothalamus, in conjunction with the loss of heat to the environment by conduction, convection, and radiation. Algor mortis is the most accurate method of estimating TSD in the early post-mortem phase.</a:t>
            </a:r>
            <a:endParaRPr lang="en-IN" b="0" i="0" dirty="0">
              <a:solidFill>
                <a:srgbClr val="000000"/>
              </a:solidFill>
              <a:effectLst/>
              <a:latin typeface="Times New Roman" panose="02020603050405020304" pitchFamily="18" charset="0"/>
            </a:endParaRPr>
          </a:p>
          <a:p>
            <a:pPr marL="0" indent="0">
              <a:buNone/>
            </a:pPr>
            <a:r>
              <a:rPr lang="en-US" b="0" i="0" dirty="0">
                <a:solidFill>
                  <a:srgbClr val="000000"/>
                </a:solidFill>
                <a:effectLst/>
                <a:latin typeface="Times New Roman" panose="02020603050405020304" pitchFamily="18" charset="0"/>
              </a:rPr>
              <a:t>A rule of thumb states that there is a decrease of 1.5 degrees F every hour.</a:t>
            </a:r>
            <a:endParaRPr lang="en-IN" dirty="0"/>
          </a:p>
          <a:p>
            <a:pPr marL="0" indent="0">
              <a:buNone/>
            </a:pPr>
            <a:endParaRPr lang="en-IN" dirty="0"/>
          </a:p>
        </p:txBody>
      </p:sp>
    </p:spTree>
    <p:extLst>
      <p:ext uri="{BB962C8B-B14F-4D97-AF65-F5344CB8AC3E}">
        <p14:creationId xmlns:p14="http://schemas.microsoft.com/office/powerpoint/2010/main" val="568350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3EBB2-F808-8E7C-F856-A52DF1FD2C9F}"/>
              </a:ext>
            </a:extLst>
          </p:cNvPr>
          <p:cNvSpPr>
            <a:spLocks noGrp="1"/>
          </p:cNvSpPr>
          <p:nvPr>
            <p:ph idx="4294967295"/>
          </p:nvPr>
        </p:nvSpPr>
        <p:spPr>
          <a:xfrm>
            <a:off x="324465" y="304800"/>
            <a:ext cx="11641393" cy="5160963"/>
          </a:xfrm>
        </p:spPr>
        <p:txBody>
          <a:bodyPr/>
          <a:lstStyle/>
          <a:p>
            <a:r>
              <a:rPr lang="en-IN" dirty="0"/>
              <a:t>2. Rigor Mortis</a:t>
            </a:r>
          </a:p>
          <a:p>
            <a:pPr marL="0" indent="0">
              <a:buNone/>
            </a:pPr>
            <a:r>
              <a:rPr lang="en-US" b="0" i="0" dirty="0">
                <a:solidFill>
                  <a:srgbClr val="000000"/>
                </a:solidFill>
                <a:effectLst/>
                <a:latin typeface="Times New Roman" panose="02020603050405020304" pitchFamily="18" charset="0"/>
              </a:rPr>
              <a:t>Rigor mortis is the post-mortem stiffening of muscles caused by the depletion of adenosine triphosphate (ATP) from the muscles, which is necessary for the breakdown of actin-myosin filaments in the muscle fibers. Actin and myosin are components of the muscle fiber and form a bond during contraction. The cessation of oxygen supply causes the stoppage of aerobic respiration in the cells and leads to a lack of ATP production.</a:t>
            </a:r>
          </a:p>
          <a:p>
            <a:pPr marL="0" indent="0">
              <a:buNone/>
            </a:pPr>
            <a:r>
              <a:rPr lang="en-US" b="0" i="0" dirty="0">
                <a:solidFill>
                  <a:srgbClr val="000000"/>
                </a:solidFill>
                <a:effectLst/>
                <a:latin typeface="Times New Roman" panose="02020603050405020304" pitchFamily="18" charset="0"/>
              </a:rPr>
              <a:t>Rigor mortis appears approximately 2 hours after death in the muscles of the face, progresses to the limbs over the next few hours, completing between 6 to 8 hours after death.</a:t>
            </a:r>
            <a:r>
              <a:rPr lang="en-US" b="0" i="0" dirty="0">
                <a:solidFill>
                  <a:srgbClr val="2F4A8B"/>
                </a:solidFill>
                <a:effectLst/>
                <a:latin typeface="Times New Roman" panose="02020603050405020304" pitchFamily="18" charset="0"/>
              </a:rPr>
              <a:t> </a:t>
            </a:r>
            <a:r>
              <a:rPr lang="en-US" b="0" i="0" dirty="0">
                <a:solidFill>
                  <a:srgbClr val="000000"/>
                </a:solidFill>
                <a:effectLst/>
                <a:latin typeface="Times New Roman" panose="02020603050405020304" pitchFamily="18" charset="0"/>
              </a:rPr>
              <a:t>Rigor mortis then stays for another 12 hours (till 24 hours after death) and then disappears. Can last 36 hours in temperate climate.</a:t>
            </a:r>
          </a:p>
          <a:p>
            <a:pPr marL="0" indent="0">
              <a:buNone/>
            </a:pPr>
            <a:r>
              <a:rPr lang="en-US" b="0" i="0" dirty="0">
                <a:solidFill>
                  <a:srgbClr val="000000"/>
                </a:solidFill>
                <a:effectLst/>
                <a:latin typeface="Times New Roman" panose="02020603050405020304" pitchFamily="18" charset="0"/>
              </a:rPr>
              <a:t>In the last phase of rigor mortis, the actin-myosin complex that has formed starts disintegrating due to proteolysis, resulting in the dissolution of the stiffness. </a:t>
            </a:r>
            <a:endParaRPr lang="en-IN" dirty="0"/>
          </a:p>
        </p:txBody>
      </p:sp>
    </p:spTree>
    <p:extLst>
      <p:ext uri="{BB962C8B-B14F-4D97-AF65-F5344CB8AC3E}">
        <p14:creationId xmlns:p14="http://schemas.microsoft.com/office/powerpoint/2010/main" val="2649789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4F316-070C-FC18-6F98-2CC42208CEB2}"/>
              </a:ext>
            </a:extLst>
          </p:cNvPr>
          <p:cNvSpPr>
            <a:spLocks noGrp="1"/>
          </p:cNvSpPr>
          <p:nvPr>
            <p:ph idx="4294967295"/>
          </p:nvPr>
        </p:nvSpPr>
        <p:spPr>
          <a:xfrm>
            <a:off x="235975" y="334297"/>
            <a:ext cx="11956026" cy="5131466"/>
          </a:xfrm>
        </p:spPr>
        <p:txBody>
          <a:bodyPr>
            <a:normAutofit/>
          </a:bodyPr>
          <a:lstStyle/>
          <a:p>
            <a:r>
              <a:rPr lang="en-IN" dirty="0"/>
              <a:t>3. </a:t>
            </a:r>
            <a:r>
              <a:rPr lang="en-IN" b="1" i="0" dirty="0">
                <a:solidFill>
                  <a:srgbClr val="000000"/>
                </a:solidFill>
                <a:effectLst/>
                <a:latin typeface="Times New Roman" panose="02020603050405020304" pitchFamily="18" charset="0"/>
              </a:rPr>
              <a:t>Livor Mortis</a:t>
            </a:r>
          </a:p>
          <a:p>
            <a:pPr marL="0" indent="0">
              <a:buNone/>
            </a:pPr>
            <a:r>
              <a:rPr lang="en-US" b="0" i="0" dirty="0">
                <a:solidFill>
                  <a:srgbClr val="000000"/>
                </a:solidFill>
                <a:effectLst/>
                <a:latin typeface="Times New Roman" panose="02020603050405020304" pitchFamily="18" charset="0"/>
              </a:rPr>
              <a:t>The final change in the classical triad is livor mortis, which is the purplish-blue discoloration of the skin in the dependent parts of the body due to the collection of blood in skin vessels caused by gravitational pull. Hypostasis develops as spots of discoloration within half an hour to 2 hours. These spots then coalesce into larger patches, which combine to form a uniform discoloration of the body's </a:t>
            </a:r>
            <a:r>
              <a:rPr lang="en-US" b="0" i="0" dirty="0" err="1">
                <a:solidFill>
                  <a:srgbClr val="000000"/>
                </a:solidFill>
                <a:effectLst/>
                <a:latin typeface="Times New Roman" panose="02020603050405020304" pitchFamily="18" charset="0"/>
              </a:rPr>
              <a:t>dependant</a:t>
            </a:r>
            <a:r>
              <a:rPr lang="en-US" b="0" i="0" dirty="0">
                <a:solidFill>
                  <a:srgbClr val="000000"/>
                </a:solidFill>
                <a:effectLst/>
                <a:latin typeface="Times New Roman" panose="02020603050405020304" pitchFamily="18" charset="0"/>
              </a:rPr>
              <a:t> parts that have not been subject to pressure, which appears from 6 to 12 hours. The discoloration becomes 'fixed' after a certain period, owing to blood cells' disintegration and hemoglobin's seepage. This fixation is confirmed by applying pressure with thumbs and is traditionally used to denote a PMI greater than 12 hours.</a:t>
            </a:r>
          </a:p>
          <a:p>
            <a:pPr marL="0" indent="0">
              <a:buNone/>
            </a:pPr>
            <a:r>
              <a:rPr lang="en-US" dirty="0">
                <a:solidFill>
                  <a:srgbClr val="000000"/>
                </a:solidFill>
                <a:latin typeface="Times New Roman" panose="02020603050405020304" pitchFamily="18" charset="0"/>
              </a:rPr>
              <a:t>4. Decomposition stages.</a:t>
            </a:r>
            <a:endParaRPr lang="en-IN" dirty="0"/>
          </a:p>
        </p:txBody>
      </p:sp>
    </p:spTree>
    <p:extLst>
      <p:ext uri="{BB962C8B-B14F-4D97-AF65-F5344CB8AC3E}">
        <p14:creationId xmlns:p14="http://schemas.microsoft.com/office/powerpoint/2010/main" val="2113977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D434AB-9863-646F-218C-39ACB0039837}"/>
              </a:ext>
            </a:extLst>
          </p:cNvPr>
          <p:cNvSpPr>
            <a:spLocks noGrp="1"/>
          </p:cNvSpPr>
          <p:nvPr>
            <p:ph idx="4294967295"/>
          </p:nvPr>
        </p:nvSpPr>
        <p:spPr>
          <a:xfrm>
            <a:off x="285135" y="294968"/>
            <a:ext cx="11906865" cy="5170795"/>
          </a:xfrm>
        </p:spPr>
        <p:txBody>
          <a:bodyPr>
            <a:normAutofit/>
          </a:bodyPr>
          <a:lstStyle/>
          <a:p>
            <a:r>
              <a:rPr lang="en-IN" dirty="0"/>
              <a:t>5. </a:t>
            </a:r>
            <a:r>
              <a:rPr lang="en-US" b="1" i="0" dirty="0">
                <a:solidFill>
                  <a:srgbClr val="000000"/>
                </a:solidFill>
                <a:effectLst/>
                <a:latin typeface="Times New Roman" panose="02020603050405020304" pitchFamily="18" charset="0"/>
              </a:rPr>
              <a:t>Forensic entomology: </a:t>
            </a:r>
          </a:p>
          <a:p>
            <a:pPr marL="0" indent="0">
              <a:buNone/>
            </a:pPr>
            <a:r>
              <a:rPr lang="en-US" b="1" i="0" dirty="0">
                <a:solidFill>
                  <a:srgbClr val="000000"/>
                </a:solidFill>
                <a:effectLst/>
                <a:latin typeface="Times New Roman" panose="02020603050405020304" pitchFamily="18" charset="0"/>
              </a:rPr>
              <a:t>Forensic entomology </a:t>
            </a:r>
            <a:r>
              <a:rPr lang="en-US" b="0" i="0" dirty="0">
                <a:solidFill>
                  <a:srgbClr val="000000"/>
                </a:solidFill>
                <a:effectLst/>
                <a:latin typeface="Times New Roman" panose="02020603050405020304" pitchFamily="18" charset="0"/>
              </a:rPr>
              <a:t>analysis has been a routine practice for estimating PMI in the early and late post-mortem periods. There are two methods of estimation using forensic entomology – based on succession and based on development. A suitable succession model is chosen for use in a succession-based approach, one that corresponds to the environmental conditions, including the circumstances of death. Therefore, forensic research into the effect of environmental factors on decomposition and insect succession is needed.</a:t>
            </a:r>
          </a:p>
          <a:p>
            <a:pPr marL="0" indent="0">
              <a:buNone/>
            </a:pPr>
            <a:r>
              <a:rPr lang="en-US" dirty="0">
                <a:solidFill>
                  <a:srgbClr val="000000"/>
                </a:solidFill>
                <a:latin typeface="Times New Roman" panose="02020603050405020304" pitchFamily="18" charset="0"/>
              </a:rPr>
              <a:t>Blow fly and Flesh fly are generally the first to colonize.</a:t>
            </a:r>
          </a:p>
          <a:p>
            <a:pPr marL="0" indent="0">
              <a:buNone/>
            </a:pPr>
            <a:r>
              <a:rPr lang="en-US" dirty="0">
                <a:solidFill>
                  <a:srgbClr val="000000"/>
                </a:solidFill>
                <a:latin typeface="Times New Roman" panose="02020603050405020304" pitchFamily="18" charset="0"/>
              </a:rPr>
              <a:t>Beetles are generally the next insect to colonize.</a:t>
            </a:r>
          </a:p>
          <a:p>
            <a:pPr marL="0" indent="0">
              <a:buNone/>
            </a:pPr>
            <a:r>
              <a:rPr lang="en-US" dirty="0">
                <a:solidFill>
                  <a:srgbClr val="000000"/>
                </a:solidFill>
                <a:latin typeface="Times New Roman" panose="02020603050405020304" pitchFamily="18" charset="0"/>
              </a:rPr>
              <a:t>Hence, insect succession along with other factors helps in determining PMI</a:t>
            </a:r>
            <a:endParaRPr lang="en-IN" dirty="0"/>
          </a:p>
        </p:txBody>
      </p:sp>
    </p:spTree>
    <p:extLst>
      <p:ext uri="{BB962C8B-B14F-4D97-AF65-F5344CB8AC3E}">
        <p14:creationId xmlns:p14="http://schemas.microsoft.com/office/powerpoint/2010/main" val="9814905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508</TotalTime>
  <Words>1790</Words>
  <Application>Microsoft Office PowerPoint</Application>
  <PresentationFormat>Widescreen</PresentationFormat>
  <Paragraphs>101</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averta</vt:lpstr>
      <vt:lpstr>DIN Pro Light</vt:lpstr>
      <vt:lpstr>Gill Sans MT</vt:lpstr>
      <vt:lpstr>Open Sans</vt:lpstr>
      <vt:lpstr>Times New Roman</vt:lpstr>
      <vt:lpstr>Wingdings</vt:lpstr>
      <vt:lpstr>Gallery</vt:lpstr>
      <vt:lpstr>Unit 4</vt:lpstr>
      <vt:lpstr>dEATH</vt:lpstr>
      <vt:lpstr>Types of Death </vt:lpstr>
      <vt:lpstr>PowerPoint Presentation</vt:lpstr>
      <vt:lpstr>PowerPoint Presentation</vt:lpstr>
      <vt:lpstr>PowerPoint Presentation</vt:lpstr>
      <vt:lpstr>Decomposition/ Putrefaction</vt:lpstr>
      <vt:lpstr>PowerPoint Presentation</vt:lpstr>
      <vt:lpstr>PowerPoint Presentation</vt:lpstr>
      <vt:lpstr>PowerPoint Presentation</vt:lpstr>
      <vt:lpstr>PowerPoint Presentation</vt:lpstr>
      <vt:lpstr>Stages of Decomposition</vt:lpstr>
      <vt:lpstr>PowerPoint Presentation</vt:lpstr>
      <vt:lpstr>Human Body Decomposition Timeline </vt:lpstr>
      <vt:lpstr>Role of insect in Decomposition</vt:lpstr>
      <vt:lpstr>PowerPoint Presentation</vt:lpstr>
      <vt:lpstr>Insect SUCCESSION LEVEL ON CADAVER</vt:lpstr>
      <vt:lpstr>PowerPoint Presentation</vt:lpstr>
      <vt:lpstr>PMI Estimation</vt:lpstr>
      <vt:lpstr>Estimation of PMI</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anjalipraneshdubey@outlook.com</dc:creator>
  <cp:lastModifiedBy>anjalipraneshdubey@outlook.com</cp:lastModifiedBy>
  <cp:revision>19</cp:revision>
  <dcterms:created xsi:type="dcterms:W3CDTF">2024-10-25T10:12:44Z</dcterms:created>
  <dcterms:modified xsi:type="dcterms:W3CDTF">2025-10-16T06:19:23Z</dcterms:modified>
</cp:coreProperties>
</file>